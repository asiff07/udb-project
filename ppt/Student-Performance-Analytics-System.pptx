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embeddedFontLst>
    <p:embeddedFont>
      <p:font typeface="Poppins Light"/>
      <p:regular r:id="rId13"/>
    </p:embeddedFont>
    <p:embeddedFont>
      <p:font typeface="Poppins Light"/>
      <p:regular r:id="rId14"/>
    </p:embeddedFont>
    <p:embeddedFont>
      <p:font typeface="Poppins Light"/>
      <p:regular r:id="rId15"/>
    </p:embeddedFont>
    <p:embeddedFont>
      <p:font typeface="Poppins Light"/>
      <p:regular r:id="rId16"/>
    </p:embeddedFont>
    <p:embeddedFont>
      <p:font typeface="Roboto Light"/>
      <p:regular r:id="rId17"/>
    </p:embeddedFont>
    <p:embeddedFont>
      <p:font typeface="Roboto Light"/>
      <p:regular r:id="rId18"/>
    </p:embeddedFont>
    <p:embeddedFont>
      <p:font typeface="Roboto Light"/>
      <p:regular r:id="rId19"/>
    </p:embeddedFont>
    <p:embeddedFont>
      <p:font typeface="Roboto Light"/>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7.xml"/><Relationship Id="rId8"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760101"/>
            <a:ext cx="7556421" cy="1240155"/>
          </a:xfrm>
          <a:prstGeom prst="rect">
            <a:avLst/>
          </a:prstGeom>
          <a:noFill/>
          <a:ln/>
        </p:spPr>
        <p:txBody>
          <a:bodyPr wrap="square" lIns="0" tIns="0" rIns="0" bIns="0" rtlCol="0" anchor="t"/>
          <a:lstStyle/>
          <a:p>
            <a:pPr algn="l" indent="0" marL="0">
              <a:lnSpc>
                <a:spcPts val="4850"/>
              </a:lnSpc>
              <a:buNone/>
            </a:pPr>
            <a:r>
              <a:rPr lang="en-US" sz="3900" b="1" dirty="0">
                <a:solidFill>
                  <a:srgbClr val="F2F2F3"/>
                </a:solidFill>
                <a:latin typeface="Poppins Light" pitchFamily="34" charset="0"/>
                <a:ea typeface="Poppins Light" pitchFamily="34" charset="-122"/>
                <a:cs typeface="Poppins Light" pitchFamily="34" charset="-120"/>
              </a:rPr>
              <a:t>Student Performance Analytics System</a:t>
            </a:r>
            <a:endParaRPr lang="en-US" sz="3900" dirty="0"/>
          </a:p>
        </p:txBody>
      </p:sp>
      <p:sp>
        <p:nvSpPr>
          <p:cNvPr id="4" name="Text 1"/>
          <p:cNvSpPr/>
          <p:nvPr/>
        </p:nvSpPr>
        <p:spPr>
          <a:xfrm>
            <a:off x="6280190" y="3297912"/>
            <a:ext cx="75564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Roboto Light" pitchFamily="34" charset="0"/>
                <a:ea typeface="Roboto Light" pitchFamily="34" charset="-122"/>
                <a:cs typeface="Roboto Light" pitchFamily="34" charset="-120"/>
              </a:rPr>
              <a:t>Academic Record Management &amp; Analytics Platform</a:t>
            </a:r>
            <a:endParaRPr lang="en-US" sz="1550" dirty="0"/>
          </a:p>
        </p:txBody>
      </p:sp>
      <p:sp>
        <p:nvSpPr>
          <p:cNvPr id="5" name="Shape 2"/>
          <p:cNvSpPr/>
          <p:nvPr/>
        </p:nvSpPr>
        <p:spPr>
          <a:xfrm>
            <a:off x="6280190" y="3838694"/>
            <a:ext cx="2258735" cy="388382"/>
          </a:xfrm>
          <a:prstGeom prst="roundRect">
            <a:avLst>
              <a:gd name="adj" fmla="val 17171"/>
            </a:avLst>
          </a:prstGeom>
          <a:noFill/>
          <a:ln w="7620">
            <a:solidFill>
              <a:srgbClr val="F2F2F3"/>
            </a:solidFill>
            <a:prstDash val="solid"/>
          </a:ln>
        </p:spPr>
      </p:sp>
      <p:sp>
        <p:nvSpPr>
          <p:cNvPr id="6" name="Text 3"/>
          <p:cNvSpPr/>
          <p:nvPr/>
        </p:nvSpPr>
        <p:spPr>
          <a:xfrm>
            <a:off x="6406872" y="3905845"/>
            <a:ext cx="2005370" cy="254079"/>
          </a:xfrm>
          <a:prstGeom prst="rect">
            <a:avLst/>
          </a:prstGeom>
          <a:noFill/>
          <a:ln/>
        </p:spPr>
        <p:txBody>
          <a:bodyPr wrap="none" lIns="0" tIns="0" rIns="0" bIns="0" rtlCol="0" anchor="t"/>
          <a:lstStyle/>
          <a:p>
            <a:pPr algn="l" indent="0" marL="0">
              <a:lnSpc>
                <a:spcPts val="2000"/>
              </a:lnSpc>
              <a:buNone/>
            </a:pPr>
            <a:r>
              <a:rPr lang="en-US" sz="1250" dirty="0">
                <a:solidFill>
                  <a:srgbClr val="F2F2F3"/>
                </a:solidFill>
                <a:latin typeface="Roboto Light" pitchFamily="34" charset="0"/>
                <a:ea typeface="Roboto Light" pitchFamily="34" charset="-122"/>
                <a:cs typeface="Roboto Light" pitchFamily="34" charset="-120"/>
              </a:rPr>
              <a:t>UNSTRUCTURED DATABASE</a:t>
            </a:r>
            <a:endParaRPr lang="en-US" sz="1250" dirty="0"/>
          </a:p>
        </p:txBody>
      </p:sp>
      <p:sp>
        <p:nvSpPr>
          <p:cNvPr id="7" name="Shape 4"/>
          <p:cNvSpPr/>
          <p:nvPr/>
        </p:nvSpPr>
        <p:spPr>
          <a:xfrm>
            <a:off x="8638103" y="3838694"/>
            <a:ext cx="1798558" cy="388382"/>
          </a:xfrm>
          <a:prstGeom prst="roundRect">
            <a:avLst>
              <a:gd name="adj" fmla="val 17171"/>
            </a:avLst>
          </a:prstGeom>
          <a:noFill/>
          <a:ln w="7620">
            <a:solidFill>
              <a:srgbClr val="F2F2F3"/>
            </a:solidFill>
            <a:prstDash val="solid"/>
          </a:ln>
        </p:spPr>
      </p:sp>
      <p:sp>
        <p:nvSpPr>
          <p:cNvPr id="8" name="Text 5"/>
          <p:cNvSpPr/>
          <p:nvPr/>
        </p:nvSpPr>
        <p:spPr>
          <a:xfrm>
            <a:off x="8764786" y="3905845"/>
            <a:ext cx="1545193" cy="254079"/>
          </a:xfrm>
          <a:prstGeom prst="rect">
            <a:avLst/>
          </a:prstGeom>
          <a:noFill/>
          <a:ln/>
        </p:spPr>
        <p:txBody>
          <a:bodyPr wrap="none" lIns="0" tIns="0" rIns="0" bIns="0" rtlCol="0" anchor="t"/>
          <a:lstStyle/>
          <a:p>
            <a:pPr algn="l" indent="0" marL="0">
              <a:lnSpc>
                <a:spcPts val="2000"/>
              </a:lnSpc>
              <a:buNone/>
            </a:pPr>
            <a:r>
              <a:rPr lang="en-US" sz="1250" dirty="0">
                <a:solidFill>
                  <a:srgbClr val="F2F2F3"/>
                </a:solidFill>
                <a:latin typeface="Roboto Light" pitchFamily="34" charset="0"/>
                <a:ea typeface="Roboto Light" pitchFamily="34" charset="-122"/>
                <a:cs typeface="Roboto Light" pitchFamily="34" charset="-120"/>
              </a:rPr>
              <a:t>ADAMAS UNIVERSITY</a:t>
            </a:r>
            <a:endParaRPr lang="en-US" sz="1250" dirty="0"/>
          </a:p>
        </p:txBody>
      </p:sp>
      <p:sp>
        <p:nvSpPr>
          <p:cNvPr id="9" name="Text 6"/>
          <p:cNvSpPr/>
          <p:nvPr/>
        </p:nvSpPr>
        <p:spPr>
          <a:xfrm>
            <a:off x="6280190" y="4450318"/>
            <a:ext cx="75564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Roboto Light" pitchFamily="34" charset="0"/>
                <a:ea typeface="Roboto Light" pitchFamily="34" charset="-122"/>
                <a:cs typeface="Roboto Light" pitchFamily="34" charset="-120"/>
              </a:rPr>
              <a:t>Team Members includes : </a:t>
            </a:r>
            <a:endParaRPr lang="en-US" sz="1550" dirty="0"/>
          </a:p>
        </p:txBody>
      </p:sp>
      <p:sp>
        <p:nvSpPr>
          <p:cNvPr id="10" name="Text 7"/>
          <p:cNvSpPr/>
          <p:nvPr/>
        </p:nvSpPr>
        <p:spPr>
          <a:xfrm>
            <a:off x="6280190" y="4991100"/>
            <a:ext cx="7556421" cy="1478399"/>
          </a:xfrm>
          <a:prstGeom prst="rect">
            <a:avLst/>
          </a:prstGeom>
          <a:noFill/>
          <a:ln/>
        </p:spPr>
        <p:txBody>
          <a:bodyPr wrap="square" lIns="0" tIns="0" rIns="0" bIns="0" rtlCol="0" anchor="t"/>
          <a:lstStyle/>
          <a:p>
            <a:pPr algn="l" marL="342900" indent="-342900">
              <a:lnSpc>
                <a:spcPts val="2500"/>
              </a:lnSpc>
              <a:buSzPct val="100000"/>
              <a:buFont typeface="+mj-lt"/>
              <a:buAutoNum type="arabicPeriod" startAt="1"/>
            </a:pPr>
            <a:r>
              <a:rPr lang="en-US" sz="1550" b="1" dirty="0">
                <a:solidFill>
                  <a:srgbClr val="E5E0DF"/>
                </a:solidFill>
                <a:latin typeface="Roboto Light" pitchFamily="34" charset="0"/>
                <a:ea typeface="Roboto Light" pitchFamily="34" charset="-122"/>
                <a:cs typeface="Roboto Light" pitchFamily="34" charset="-120"/>
              </a:rPr>
              <a:t>Sk Asif Ahmed - UG/SOET/30/23/207</a:t>
            </a:r>
            <a:endParaRPr lang="en-US" sz="1550" dirty="0"/>
          </a:p>
          <a:p>
            <a:pPr algn="l" marL="342900" indent="-342900">
              <a:lnSpc>
                <a:spcPts val="2500"/>
              </a:lnSpc>
              <a:buSzPct val="100000"/>
              <a:buFont typeface="+mj-lt"/>
              <a:buAutoNum type="arabicPeriod" startAt="2"/>
            </a:pPr>
            <a:r>
              <a:rPr lang="en-US" sz="1550" b="1" dirty="0">
                <a:solidFill>
                  <a:srgbClr val="E5E0DF"/>
                </a:solidFill>
                <a:latin typeface="Roboto Light" pitchFamily="34" charset="0"/>
                <a:ea typeface="Roboto Light" pitchFamily="34" charset="-122"/>
                <a:cs typeface="Roboto Light" pitchFamily="34" charset="-120"/>
              </a:rPr>
              <a:t>Amit Mishra - UG/02/BTCSE/2023/205</a:t>
            </a:r>
            <a:endParaRPr lang="en-US" sz="1550" dirty="0"/>
          </a:p>
          <a:p>
            <a:pPr algn="l" marL="342900" indent="-342900">
              <a:lnSpc>
                <a:spcPts val="2500"/>
              </a:lnSpc>
              <a:buSzPct val="100000"/>
              <a:buFont typeface="+mj-lt"/>
              <a:buAutoNum type="arabicPeriod" startAt="3"/>
            </a:pPr>
            <a:r>
              <a:rPr lang="en-US" sz="1550" b="1" dirty="0">
                <a:solidFill>
                  <a:srgbClr val="E5E0DF"/>
                </a:solidFill>
                <a:latin typeface="Roboto Light" pitchFamily="34" charset="0"/>
                <a:ea typeface="Roboto Light" pitchFamily="34" charset="-122"/>
                <a:cs typeface="Roboto Light" pitchFamily="34" charset="-120"/>
              </a:rPr>
              <a:t>Prionti Majumdar - UG/02/BTCSE/2023/204</a:t>
            </a:r>
            <a:endParaRPr lang="en-US" sz="1550" dirty="0"/>
          </a:p>
          <a:p>
            <a:pPr algn="l" marL="342900" indent="-342900">
              <a:lnSpc>
                <a:spcPts val="2500"/>
              </a:lnSpc>
              <a:buSzPct val="100000"/>
              <a:buFont typeface="+mj-lt"/>
              <a:buAutoNum type="arabicPeriod" startAt="4"/>
            </a:pPr>
            <a:r>
              <a:rPr lang="en-US" sz="1550" b="1" dirty="0">
                <a:solidFill>
                  <a:srgbClr val="E5E0DF"/>
                </a:solidFill>
                <a:latin typeface="Roboto Light" pitchFamily="34" charset="0"/>
                <a:ea typeface="Roboto Light" pitchFamily="34" charset="-122"/>
                <a:cs typeface="Roboto Light" pitchFamily="34" charset="-120"/>
              </a:rPr>
              <a:t>Tanmoy Banik - UG/SOET/30/23/206</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50094"/>
            <a:ext cx="3969425" cy="496133"/>
          </a:xfrm>
          <a:prstGeom prst="rect">
            <a:avLst/>
          </a:prstGeom>
          <a:noFill/>
          <a:ln/>
        </p:spPr>
        <p:txBody>
          <a:bodyPr wrap="none" lIns="0" tIns="0" rIns="0" bIns="0" rtlCol="0" anchor="t"/>
          <a:lstStyle/>
          <a:p>
            <a:pPr algn="l" indent="0" marL="0">
              <a:lnSpc>
                <a:spcPts val="3900"/>
              </a:lnSpc>
              <a:buNone/>
            </a:pPr>
            <a:r>
              <a:rPr lang="en-US" sz="3100" dirty="0">
                <a:solidFill>
                  <a:srgbClr val="F2F2F3"/>
                </a:solidFill>
                <a:latin typeface="Poppins Light" pitchFamily="34" charset="0"/>
                <a:ea typeface="Poppins Light" pitchFamily="34" charset="-122"/>
                <a:cs typeface="Poppins Light" pitchFamily="34" charset="-120"/>
              </a:rPr>
              <a:t>Backend Overview</a:t>
            </a:r>
            <a:endParaRPr lang="en-US" sz="3100" dirty="0"/>
          </a:p>
        </p:txBody>
      </p:sp>
      <p:sp>
        <p:nvSpPr>
          <p:cNvPr id="3" name="Text 1"/>
          <p:cNvSpPr/>
          <p:nvPr/>
        </p:nvSpPr>
        <p:spPr>
          <a:xfrm>
            <a:off x="793790" y="1500188"/>
            <a:ext cx="13042821"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The backend is built on a robust, modern JavaScript stack designed for flexibility, performance, and ease of maintenance. It follows the MVC (Model-View-Controller) architectural pattern, ensuring a clear separation of concerns across all layers of the application.</a:t>
            </a:r>
            <a:endParaRPr lang="en-US" sz="1250" dirty="0"/>
          </a:p>
        </p:txBody>
      </p:sp>
      <p:sp>
        <p:nvSpPr>
          <p:cNvPr id="4" name="Shape 2"/>
          <p:cNvSpPr/>
          <p:nvPr/>
        </p:nvSpPr>
        <p:spPr>
          <a:xfrm>
            <a:off x="793790" y="2100263"/>
            <a:ext cx="6457950" cy="1114068"/>
          </a:xfrm>
          <a:prstGeom prst="roundRect">
            <a:avLst>
              <a:gd name="adj" fmla="val 5986"/>
            </a:avLst>
          </a:prstGeom>
          <a:solidFill>
            <a:srgbClr val="3D3D42"/>
          </a:solidFill>
          <a:ln w="7620">
            <a:solidFill>
              <a:srgbClr val="56565B"/>
            </a:solidFill>
            <a:prstDash val="solid"/>
          </a:ln>
        </p:spPr>
      </p:sp>
      <p:sp>
        <p:nvSpPr>
          <p:cNvPr id="5" name="Text 3"/>
          <p:cNvSpPr/>
          <p:nvPr/>
        </p:nvSpPr>
        <p:spPr>
          <a:xfrm>
            <a:off x="960120" y="2266593"/>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E5E0DF"/>
                </a:solidFill>
                <a:latin typeface="Poppins Light" pitchFamily="34" charset="0"/>
                <a:ea typeface="Poppins Light" pitchFamily="34" charset="-122"/>
                <a:cs typeface="Poppins Light" pitchFamily="34" charset="-120"/>
              </a:rPr>
              <a:t>Node.js</a:t>
            </a:r>
            <a:endParaRPr lang="en-US" sz="1550" dirty="0"/>
          </a:p>
        </p:txBody>
      </p:sp>
      <p:sp>
        <p:nvSpPr>
          <p:cNvPr id="6" name="Text 4"/>
          <p:cNvSpPr/>
          <p:nvPr/>
        </p:nvSpPr>
        <p:spPr>
          <a:xfrm>
            <a:off x="960120" y="2590800"/>
            <a:ext cx="6125289"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Runtime environment powering server-side logic with non-blocking I/O for high performance.</a:t>
            </a:r>
            <a:endParaRPr lang="en-US" sz="1250" dirty="0"/>
          </a:p>
        </p:txBody>
      </p:sp>
      <p:sp>
        <p:nvSpPr>
          <p:cNvPr id="7" name="Shape 5"/>
          <p:cNvSpPr/>
          <p:nvPr/>
        </p:nvSpPr>
        <p:spPr>
          <a:xfrm>
            <a:off x="7378660" y="2100263"/>
            <a:ext cx="6457950" cy="1114068"/>
          </a:xfrm>
          <a:prstGeom prst="roundRect">
            <a:avLst>
              <a:gd name="adj" fmla="val 5986"/>
            </a:avLst>
          </a:prstGeom>
          <a:solidFill>
            <a:srgbClr val="3D3D42"/>
          </a:solidFill>
          <a:ln w="7620">
            <a:solidFill>
              <a:srgbClr val="56565B"/>
            </a:solidFill>
            <a:prstDash val="solid"/>
          </a:ln>
        </p:spPr>
      </p:sp>
      <p:sp>
        <p:nvSpPr>
          <p:cNvPr id="8" name="Text 6"/>
          <p:cNvSpPr/>
          <p:nvPr/>
        </p:nvSpPr>
        <p:spPr>
          <a:xfrm>
            <a:off x="7544991" y="2266593"/>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E5E0DF"/>
                </a:solidFill>
                <a:latin typeface="Poppins Light" pitchFamily="34" charset="0"/>
                <a:ea typeface="Poppins Light" pitchFamily="34" charset="-122"/>
                <a:cs typeface="Poppins Light" pitchFamily="34" charset="-120"/>
              </a:rPr>
              <a:t>Express.js</a:t>
            </a:r>
            <a:endParaRPr lang="en-US" sz="1550" dirty="0"/>
          </a:p>
        </p:txBody>
      </p:sp>
      <p:sp>
        <p:nvSpPr>
          <p:cNvPr id="9" name="Text 7"/>
          <p:cNvSpPr/>
          <p:nvPr/>
        </p:nvSpPr>
        <p:spPr>
          <a:xfrm>
            <a:off x="7544991" y="2590800"/>
            <a:ext cx="6125289"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Lightweight web framework for building RESTful APIs with clean routing and middleware support.</a:t>
            </a:r>
            <a:endParaRPr lang="en-US" sz="1250" dirty="0"/>
          </a:p>
        </p:txBody>
      </p:sp>
      <p:sp>
        <p:nvSpPr>
          <p:cNvPr id="10" name="Shape 8"/>
          <p:cNvSpPr/>
          <p:nvPr/>
        </p:nvSpPr>
        <p:spPr>
          <a:xfrm>
            <a:off x="793790" y="3341251"/>
            <a:ext cx="6457950" cy="1114068"/>
          </a:xfrm>
          <a:prstGeom prst="roundRect">
            <a:avLst>
              <a:gd name="adj" fmla="val 5986"/>
            </a:avLst>
          </a:prstGeom>
          <a:solidFill>
            <a:srgbClr val="3D3D42"/>
          </a:solidFill>
          <a:ln w="7620">
            <a:solidFill>
              <a:srgbClr val="56565B"/>
            </a:solidFill>
            <a:prstDash val="solid"/>
          </a:ln>
        </p:spPr>
      </p:sp>
      <p:sp>
        <p:nvSpPr>
          <p:cNvPr id="11" name="Text 9"/>
          <p:cNvSpPr/>
          <p:nvPr/>
        </p:nvSpPr>
        <p:spPr>
          <a:xfrm>
            <a:off x="960120" y="3507581"/>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E5E0DF"/>
                </a:solidFill>
                <a:latin typeface="Poppins Light" pitchFamily="34" charset="0"/>
                <a:ea typeface="Poppins Light" pitchFamily="34" charset="-122"/>
                <a:cs typeface="Poppins Light" pitchFamily="34" charset="-120"/>
              </a:rPr>
              <a:t>MongoDB</a:t>
            </a:r>
            <a:endParaRPr lang="en-US" sz="1550" dirty="0"/>
          </a:p>
        </p:txBody>
      </p:sp>
      <p:sp>
        <p:nvSpPr>
          <p:cNvPr id="12" name="Text 10"/>
          <p:cNvSpPr/>
          <p:nvPr/>
        </p:nvSpPr>
        <p:spPr>
          <a:xfrm>
            <a:off x="960120" y="3831788"/>
            <a:ext cx="6125289"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Document-oriented NoSQL database offering schema flexibility and horizontal scalability.</a:t>
            </a:r>
            <a:endParaRPr lang="en-US" sz="1250" dirty="0"/>
          </a:p>
        </p:txBody>
      </p:sp>
      <p:sp>
        <p:nvSpPr>
          <p:cNvPr id="13" name="Shape 11"/>
          <p:cNvSpPr/>
          <p:nvPr/>
        </p:nvSpPr>
        <p:spPr>
          <a:xfrm>
            <a:off x="7378660" y="3341251"/>
            <a:ext cx="6457950" cy="1114068"/>
          </a:xfrm>
          <a:prstGeom prst="roundRect">
            <a:avLst>
              <a:gd name="adj" fmla="val 5986"/>
            </a:avLst>
          </a:prstGeom>
          <a:solidFill>
            <a:srgbClr val="3D3D42"/>
          </a:solidFill>
          <a:ln w="7620">
            <a:solidFill>
              <a:srgbClr val="56565B"/>
            </a:solidFill>
            <a:prstDash val="solid"/>
          </a:ln>
        </p:spPr>
      </p:sp>
      <p:sp>
        <p:nvSpPr>
          <p:cNvPr id="14" name="Text 12"/>
          <p:cNvSpPr/>
          <p:nvPr/>
        </p:nvSpPr>
        <p:spPr>
          <a:xfrm>
            <a:off x="7544991" y="3507581"/>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E5E0DF"/>
                </a:solidFill>
                <a:latin typeface="Poppins Light" pitchFamily="34" charset="0"/>
                <a:ea typeface="Poppins Light" pitchFamily="34" charset="-122"/>
                <a:cs typeface="Poppins Light" pitchFamily="34" charset="-120"/>
              </a:rPr>
              <a:t>Mongoose</a:t>
            </a:r>
            <a:endParaRPr lang="en-US" sz="1550" dirty="0"/>
          </a:p>
        </p:txBody>
      </p:sp>
      <p:sp>
        <p:nvSpPr>
          <p:cNvPr id="15" name="Text 13"/>
          <p:cNvSpPr/>
          <p:nvPr/>
        </p:nvSpPr>
        <p:spPr>
          <a:xfrm>
            <a:off x="7544991" y="3831788"/>
            <a:ext cx="6125289" cy="228600"/>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ODM library providing schema-based solutions to model application data with validation.</a:t>
            </a:r>
            <a:endParaRPr lang="en-US" sz="1250" dirty="0"/>
          </a:p>
        </p:txBody>
      </p:sp>
      <p:sp>
        <p:nvSpPr>
          <p:cNvPr id="16" name="Shape 14"/>
          <p:cNvSpPr/>
          <p:nvPr/>
        </p:nvSpPr>
        <p:spPr>
          <a:xfrm>
            <a:off x="679490" y="4598194"/>
            <a:ext cx="6556415" cy="2881193"/>
          </a:xfrm>
          <a:prstGeom prst="roundRect">
            <a:avLst>
              <a:gd name="adj" fmla="val 3968"/>
            </a:avLst>
          </a:prstGeom>
          <a:solidFill>
            <a:srgbClr val="F2F2F3"/>
          </a:solidFill>
          <a:ln/>
        </p:spPr>
      </p:sp>
      <p:sp>
        <p:nvSpPr>
          <p:cNvPr id="17" name="Text 15"/>
          <p:cNvSpPr/>
          <p:nvPr/>
        </p:nvSpPr>
        <p:spPr>
          <a:xfrm>
            <a:off x="838200" y="4725114"/>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000000"/>
                </a:solidFill>
                <a:latin typeface="Poppins Light" pitchFamily="34" charset="0"/>
                <a:ea typeface="Poppins Light" pitchFamily="34" charset="-122"/>
                <a:cs typeface="Poppins Light" pitchFamily="34" charset="-120"/>
              </a:rPr>
              <a:t>Core Features</a:t>
            </a:r>
            <a:endParaRPr lang="en-US" sz="1550" dirty="0"/>
          </a:p>
        </p:txBody>
      </p:sp>
      <p:sp>
        <p:nvSpPr>
          <p:cNvPr id="18" name="Text 16"/>
          <p:cNvSpPr/>
          <p:nvPr/>
        </p:nvSpPr>
        <p:spPr>
          <a:xfrm>
            <a:off x="838200" y="5100042"/>
            <a:ext cx="6238994" cy="1320641"/>
          </a:xfrm>
          <a:prstGeom prst="rect">
            <a:avLst/>
          </a:prstGeom>
          <a:noFill/>
          <a:ln/>
        </p:spPr>
        <p:txBody>
          <a:bodyPr wrap="square" lIns="0" tIns="0" rIns="0" bIns="0" rtlCol="0" anchor="t"/>
          <a:lstStyle/>
          <a:p>
            <a:pPr algn="l" marL="342900" indent="-342900">
              <a:lnSpc>
                <a:spcPts val="1800"/>
              </a:lnSpc>
              <a:buSzPct val="100000"/>
              <a:buChar char="•"/>
            </a:pPr>
            <a:r>
              <a:rPr lang="en-US" sz="1250" dirty="0">
                <a:solidFill>
                  <a:srgbClr val="000000"/>
                </a:solidFill>
                <a:latin typeface="Roboto Light" pitchFamily="34" charset="0"/>
                <a:ea typeface="Roboto Light" pitchFamily="34" charset="-122"/>
                <a:cs typeface="Roboto Light" pitchFamily="34" charset="-120"/>
              </a:rPr>
              <a:t>RESTful API endpoints for students, subjects, and marks</a:t>
            </a:r>
            <a:endParaRPr lang="en-US" sz="1250" dirty="0"/>
          </a:p>
          <a:p>
            <a:pPr algn="l" marL="342900" indent="-342900">
              <a:lnSpc>
                <a:spcPts val="1800"/>
              </a:lnSpc>
              <a:buSzPct val="100000"/>
              <a:buChar char="•"/>
            </a:pPr>
            <a:r>
              <a:rPr lang="en-US" sz="1250" dirty="0">
                <a:solidFill>
                  <a:srgbClr val="000000"/>
                </a:solidFill>
                <a:latin typeface="Roboto Light" pitchFamily="34" charset="0"/>
                <a:ea typeface="Roboto Light" pitchFamily="34" charset="-122"/>
                <a:cs typeface="Roboto Light" pitchFamily="34" charset="-120"/>
              </a:rPr>
              <a:t>MVC architecture for clean code organization</a:t>
            </a:r>
            <a:endParaRPr lang="en-US" sz="1250" dirty="0"/>
          </a:p>
          <a:p>
            <a:pPr algn="l" marL="342900" indent="-342900">
              <a:lnSpc>
                <a:spcPts val="1800"/>
              </a:lnSpc>
              <a:buSzPct val="100000"/>
              <a:buChar char="•"/>
            </a:pPr>
            <a:r>
              <a:rPr lang="en-US" sz="1250" dirty="0">
                <a:solidFill>
                  <a:srgbClr val="000000"/>
                </a:solidFill>
                <a:latin typeface="Roboto Light" pitchFamily="34" charset="0"/>
                <a:ea typeface="Roboto Light" pitchFamily="34" charset="-122"/>
                <a:cs typeface="Roboto Light" pitchFamily="34" charset="-120"/>
              </a:rPr>
              <a:t>Centralized error handling and input validation</a:t>
            </a:r>
            <a:endParaRPr lang="en-US" sz="1250" dirty="0"/>
          </a:p>
          <a:p>
            <a:pPr algn="l" marL="342900" indent="-342900">
              <a:lnSpc>
                <a:spcPts val="1800"/>
              </a:lnSpc>
              <a:buSzPct val="100000"/>
              <a:buChar char="•"/>
            </a:pPr>
            <a:r>
              <a:rPr lang="en-US" sz="1250" dirty="0">
                <a:solidFill>
                  <a:srgbClr val="000000"/>
                </a:solidFill>
                <a:latin typeface="Roboto Light" pitchFamily="34" charset="0"/>
                <a:ea typeface="Roboto Light" pitchFamily="34" charset="-122"/>
                <a:cs typeface="Roboto Light" pitchFamily="34" charset="-120"/>
              </a:rPr>
              <a:t>Modular route structure for easy extensibility</a:t>
            </a:r>
            <a:endParaRPr lang="en-US" sz="1250" dirty="0"/>
          </a:p>
          <a:p>
            <a:pPr algn="l" marL="342900" indent="-342900">
              <a:lnSpc>
                <a:spcPts val="1800"/>
              </a:lnSpc>
              <a:buSzPct val="100000"/>
              <a:buChar char="•"/>
            </a:pPr>
            <a:r>
              <a:rPr lang="en-US" sz="1250" dirty="0">
                <a:solidFill>
                  <a:srgbClr val="000000"/>
                </a:solidFill>
                <a:latin typeface="Roboto Light" pitchFamily="34" charset="0"/>
                <a:ea typeface="Roboto Light" pitchFamily="34" charset="-122"/>
                <a:cs typeface="Roboto Light" pitchFamily="34" charset="-120"/>
              </a:rPr>
              <a:t>Scalable design supporting future feature additions</a:t>
            </a:r>
            <a:endParaRPr lang="en-US" sz="1250" dirty="0"/>
          </a:p>
        </p:txBody>
      </p:sp>
      <p:sp>
        <p:nvSpPr>
          <p:cNvPr id="19" name="Text 17"/>
          <p:cNvSpPr/>
          <p:nvPr/>
        </p:nvSpPr>
        <p:spPr>
          <a:xfrm>
            <a:off x="7516416" y="4725114"/>
            <a:ext cx="2358985" cy="248007"/>
          </a:xfrm>
          <a:prstGeom prst="rect">
            <a:avLst/>
          </a:prstGeom>
          <a:noFill/>
          <a:ln/>
        </p:spPr>
        <p:txBody>
          <a:bodyPr wrap="none" lIns="0" tIns="0" rIns="0" bIns="0" rtlCol="0" anchor="t"/>
          <a:lstStyle/>
          <a:p>
            <a:pPr algn="l" indent="0" marL="0">
              <a:lnSpc>
                <a:spcPts val="1950"/>
              </a:lnSpc>
              <a:buNone/>
            </a:pPr>
            <a:r>
              <a:rPr lang="en-US" sz="1550" dirty="0">
                <a:solidFill>
                  <a:srgbClr val="F2F2F3"/>
                </a:solidFill>
                <a:latin typeface="Poppins Light" pitchFamily="34" charset="0"/>
                <a:ea typeface="Poppins Light" pitchFamily="34" charset="-122"/>
                <a:cs typeface="Poppins Light" pitchFamily="34" charset="-120"/>
              </a:rPr>
              <a:t>Security &amp; Data Integrity</a:t>
            </a:r>
            <a:endParaRPr lang="en-US" sz="1550" dirty="0"/>
          </a:p>
        </p:txBody>
      </p:sp>
      <p:sp>
        <p:nvSpPr>
          <p:cNvPr id="20" name="Text 18"/>
          <p:cNvSpPr/>
          <p:nvPr/>
        </p:nvSpPr>
        <p:spPr>
          <a:xfrm>
            <a:off x="7516416" y="5100042"/>
            <a:ext cx="6327815" cy="1047631"/>
          </a:xfrm>
          <a:prstGeom prst="rect">
            <a:avLst/>
          </a:prstGeom>
          <a:noFill/>
          <a:ln/>
        </p:spPr>
        <p:txBody>
          <a:bodyPr wrap="square" lIns="0" tIns="0" rIns="0" bIns="0" rtlCol="0" anchor="t"/>
          <a:lstStyle/>
          <a:p>
            <a:pPr algn="l" marL="342900" indent="-342900">
              <a:lnSpc>
                <a:spcPts val="1800"/>
              </a:lnSpc>
              <a:buSzPct val="100000"/>
              <a:buChar char="•"/>
            </a:pPr>
            <a:r>
              <a:rPr lang="en-US" sz="1250" dirty="0">
                <a:solidFill>
                  <a:srgbClr val="E5E0DF"/>
                </a:solidFill>
                <a:latin typeface="Roboto Light" pitchFamily="34" charset="0"/>
                <a:ea typeface="Roboto Light" pitchFamily="34" charset="-122"/>
                <a:cs typeface="Roboto Light" pitchFamily="34" charset="-120"/>
              </a:rPr>
              <a:t>Input sanitization and schema-level validation via Mongoose</a:t>
            </a:r>
            <a:endParaRPr lang="en-US" sz="1250" dirty="0"/>
          </a:p>
          <a:p>
            <a:pPr algn="l" marL="342900" indent="-342900">
              <a:lnSpc>
                <a:spcPts val="1800"/>
              </a:lnSpc>
              <a:buSzPct val="100000"/>
              <a:buChar char="•"/>
            </a:pPr>
            <a:r>
              <a:rPr lang="en-US" sz="1250" dirty="0">
                <a:solidFill>
                  <a:srgbClr val="E5E0DF"/>
                </a:solidFill>
                <a:latin typeface="Roboto Light" pitchFamily="34" charset="0"/>
                <a:ea typeface="Roboto Light" pitchFamily="34" charset="-122"/>
                <a:cs typeface="Roboto Light" pitchFamily="34" charset="-120"/>
              </a:rPr>
              <a:t>Structured schema design enforcing data consistency</a:t>
            </a:r>
            <a:endParaRPr lang="en-US" sz="1250" dirty="0"/>
          </a:p>
          <a:p>
            <a:pPr algn="l" marL="342900" indent="-342900">
              <a:lnSpc>
                <a:spcPts val="1800"/>
              </a:lnSpc>
              <a:buSzPct val="100000"/>
              <a:buChar char="•"/>
            </a:pPr>
            <a:r>
              <a:rPr lang="en-US" sz="1250" dirty="0">
                <a:solidFill>
                  <a:srgbClr val="E5E0DF"/>
                </a:solidFill>
                <a:latin typeface="Roboto Light" pitchFamily="34" charset="0"/>
                <a:ea typeface="Roboto Light" pitchFamily="34" charset="-122"/>
                <a:cs typeface="Roboto Light" pitchFamily="34" charset="-120"/>
              </a:rPr>
              <a:t>Error middleware catching unhandled exceptions globally</a:t>
            </a:r>
            <a:endParaRPr lang="en-US" sz="1250" dirty="0"/>
          </a:p>
          <a:p>
            <a:pPr algn="l" marL="342900" indent="-342900">
              <a:lnSpc>
                <a:spcPts val="1800"/>
              </a:lnSpc>
              <a:buSzPct val="100000"/>
              <a:buChar char="•"/>
            </a:pPr>
            <a:r>
              <a:rPr lang="en-US" sz="1250" dirty="0">
                <a:solidFill>
                  <a:srgbClr val="E5E0DF"/>
                </a:solidFill>
                <a:latin typeface="Roboto Light" pitchFamily="34" charset="0"/>
                <a:ea typeface="Roboto Light" pitchFamily="34" charset="-122"/>
                <a:cs typeface="Roboto Light" pitchFamily="34" charset="-120"/>
              </a:rPr>
              <a:t>HTTP status codes returned accurately for all responses</a:t>
            </a:r>
            <a:endParaRPr lang="en-US" sz="1250" dirty="0"/>
          </a:p>
        </p:txBody>
      </p:sp>
      <p:sp>
        <p:nvSpPr>
          <p:cNvPr id="21" name="Shape 19"/>
          <p:cNvSpPr/>
          <p:nvPr/>
        </p:nvSpPr>
        <p:spPr>
          <a:xfrm>
            <a:off x="7516416" y="6290548"/>
            <a:ext cx="6327815" cy="1045964"/>
          </a:xfrm>
          <a:prstGeom prst="roundRect">
            <a:avLst>
              <a:gd name="adj" fmla="val 6376"/>
            </a:avLst>
          </a:prstGeom>
          <a:solidFill>
            <a:srgbClr val="252528"/>
          </a:solidFill>
          <a:ln/>
        </p:spPr>
      </p:sp>
      <p:pic>
        <p:nvPicPr>
          <p:cNvPr id="22" name="Image 0" descr="preencoded.png">    </p:cNvPr>
          <p:cNvPicPr>
            <a:picLocks noChangeAspect="1"/>
          </p:cNvPicPr>
          <p:nvPr/>
        </p:nvPicPr>
        <p:blipFill>
          <a:blip r:embed="rId1"/>
          <a:stretch>
            <a:fillRect/>
          </a:stretch>
        </p:blipFill>
        <p:spPr>
          <a:xfrm>
            <a:off x="7675126" y="6517600"/>
            <a:ext cx="198358" cy="158710"/>
          </a:xfrm>
          <a:prstGeom prst="rect">
            <a:avLst/>
          </a:prstGeom>
        </p:spPr>
      </p:pic>
      <p:sp>
        <p:nvSpPr>
          <p:cNvPr id="23" name="Text 20"/>
          <p:cNvSpPr/>
          <p:nvPr/>
        </p:nvSpPr>
        <p:spPr>
          <a:xfrm>
            <a:off x="8032194" y="6457117"/>
            <a:ext cx="5653326" cy="685800"/>
          </a:xfrm>
          <a:prstGeom prst="rect">
            <a:avLst/>
          </a:prstGeom>
          <a:noFill/>
          <a:ln/>
        </p:spPr>
        <p:txBody>
          <a:bodyPr wrap="square" lIns="0" tIns="0" rIns="0" bIns="0" rtlCol="0" anchor="t"/>
          <a:lstStyle/>
          <a:p>
            <a:pPr algn="l" indent="0" marL="0">
              <a:lnSpc>
                <a:spcPts val="1800"/>
              </a:lnSpc>
              <a:buNone/>
            </a:pPr>
            <a:r>
              <a:rPr lang="en-US" sz="1250" dirty="0">
                <a:solidFill>
                  <a:srgbClr val="FFFFFF"/>
                </a:solidFill>
                <a:latin typeface="Roboto Light" pitchFamily="34" charset="0"/>
                <a:ea typeface="Roboto Light" pitchFamily="34" charset="-122"/>
                <a:cs typeface="Roboto Light" pitchFamily="34" charset="-120"/>
              </a:rPr>
              <a:t>The modular backend design allows individual components — such as authentication, analytics, or reporting — to be added or replaced without disrupting the rest of the system.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47951"/>
            <a:ext cx="7262574" cy="496133"/>
          </a:xfrm>
          <a:prstGeom prst="rect">
            <a:avLst/>
          </a:prstGeom>
          <a:noFill/>
          <a:ln/>
        </p:spPr>
        <p:txBody>
          <a:bodyPr wrap="none" lIns="0" tIns="0" rIns="0" bIns="0" rtlCol="0" anchor="t"/>
          <a:lstStyle/>
          <a:p>
            <a:pPr algn="l" indent="0" marL="0">
              <a:lnSpc>
                <a:spcPts val="3900"/>
              </a:lnSpc>
              <a:buNone/>
            </a:pPr>
            <a:r>
              <a:rPr lang="en-US" sz="3100" dirty="0">
                <a:solidFill>
                  <a:srgbClr val="F2F2F3"/>
                </a:solidFill>
                <a:latin typeface="Poppins Light" pitchFamily="34" charset="0"/>
                <a:ea typeface="Poppins Light" pitchFamily="34" charset="-122"/>
                <a:cs typeface="Poppins Light" pitchFamily="34" charset="-120"/>
              </a:rPr>
              <a:t>Database Design &amp; CRUD Operations</a:t>
            </a:r>
            <a:endParaRPr lang="en-US" sz="3100" dirty="0"/>
          </a:p>
        </p:txBody>
      </p:sp>
      <p:sp>
        <p:nvSpPr>
          <p:cNvPr id="3" name="Text 1"/>
          <p:cNvSpPr/>
          <p:nvPr/>
        </p:nvSpPr>
        <p:spPr>
          <a:xfrm>
            <a:off x="793790" y="1498044"/>
            <a:ext cx="13042821"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The system uses three primary MongoDB collections to organize academic data. Each collection is modeled with Mongoose schemas, enabling structured document storage while retaining the flexibility of a NoSQL database. All data operations follow standard CRUD patterns exposed through RESTful API endpoints.</a:t>
            </a:r>
            <a:endParaRPr lang="en-US" sz="1250" dirty="0"/>
          </a:p>
        </p:txBody>
      </p:sp>
      <p:sp>
        <p:nvSpPr>
          <p:cNvPr id="4" name="Shape 2"/>
          <p:cNvSpPr/>
          <p:nvPr/>
        </p:nvSpPr>
        <p:spPr>
          <a:xfrm>
            <a:off x="793790" y="2098119"/>
            <a:ext cx="4262914" cy="1609368"/>
          </a:xfrm>
          <a:prstGeom prst="roundRect">
            <a:avLst>
              <a:gd name="adj" fmla="val 6818"/>
            </a:avLst>
          </a:prstGeom>
          <a:solidFill>
            <a:srgbClr val="050505"/>
          </a:solidFill>
          <a:ln w="22860">
            <a:solidFill>
              <a:srgbClr val="56565B"/>
            </a:solidFill>
            <a:prstDash val="solid"/>
          </a:ln>
        </p:spPr>
      </p:sp>
      <p:sp>
        <p:nvSpPr>
          <p:cNvPr id="5" name="Shape 3"/>
          <p:cNvSpPr/>
          <p:nvPr/>
        </p:nvSpPr>
        <p:spPr>
          <a:xfrm>
            <a:off x="770930" y="2098119"/>
            <a:ext cx="91440" cy="1609368"/>
          </a:xfrm>
          <a:prstGeom prst="roundRect">
            <a:avLst>
              <a:gd name="adj" fmla="val 72930"/>
            </a:avLst>
          </a:prstGeom>
          <a:solidFill>
            <a:srgbClr val="F2F2F3"/>
          </a:solidFill>
          <a:ln/>
        </p:spPr>
      </p:sp>
      <p:sp>
        <p:nvSpPr>
          <p:cNvPr id="6" name="Text 4"/>
          <p:cNvSpPr/>
          <p:nvPr/>
        </p:nvSpPr>
        <p:spPr>
          <a:xfrm>
            <a:off x="1043940" y="2279690"/>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E5E0DF"/>
                </a:solidFill>
                <a:latin typeface="Poppins Light" pitchFamily="34" charset="0"/>
                <a:ea typeface="Poppins Light" pitchFamily="34" charset="-122"/>
                <a:cs typeface="Poppins Light" pitchFamily="34" charset="-120"/>
              </a:rPr>
              <a:t>students</a:t>
            </a:r>
            <a:endParaRPr lang="en-US" sz="1550" dirty="0"/>
          </a:p>
        </p:txBody>
      </p:sp>
      <p:sp>
        <p:nvSpPr>
          <p:cNvPr id="7" name="Text 5"/>
          <p:cNvSpPr/>
          <p:nvPr/>
        </p:nvSpPr>
        <p:spPr>
          <a:xfrm>
            <a:off x="1043940" y="2603897"/>
            <a:ext cx="3831193" cy="92202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Stores student profiles including roll number, name, semester, branch, and contact details. Each document is uniquely identified by a roll number or auto-generated </a:t>
            </a:r>
            <a:pPr algn="l" indent="0" marL="0">
              <a:lnSpc>
                <a:spcPts val="1800"/>
              </a:lnSpc>
              <a:buNone/>
            </a:pPr>
            <a:r>
              <a:rPr lang="en-US" sz="1250" dirty="0">
                <a:solidFill>
                  <a:srgbClr val="E5E0DF"/>
                </a:solidFill>
                <a:highlight>
                  <a:srgbClr val="121212"/>
                </a:highlight>
                <a:latin typeface="Consolas" pitchFamily="34" charset="0"/>
                <a:ea typeface="Consolas" pitchFamily="34" charset="-122"/>
                <a:cs typeface="Consolas" pitchFamily="34" charset="-120"/>
              </a:rPr>
              <a:t>_id</a:t>
            </a:r>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a:t>
            </a:r>
            <a:endParaRPr lang="en-US" sz="1250" dirty="0"/>
          </a:p>
        </p:txBody>
      </p:sp>
      <p:sp>
        <p:nvSpPr>
          <p:cNvPr id="8" name="Shape 6"/>
          <p:cNvSpPr/>
          <p:nvPr/>
        </p:nvSpPr>
        <p:spPr>
          <a:xfrm>
            <a:off x="5183624" y="2098119"/>
            <a:ext cx="4263033" cy="1609368"/>
          </a:xfrm>
          <a:prstGeom prst="roundRect">
            <a:avLst>
              <a:gd name="adj" fmla="val 6818"/>
            </a:avLst>
          </a:prstGeom>
          <a:solidFill>
            <a:srgbClr val="050505"/>
          </a:solidFill>
          <a:ln w="22860">
            <a:solidFill>
              <a:srgbClr val="56565B"/>
            </a:solidFill>
            <a:prstDash val="solid"/>
          </a:ln>
        </p:spPr>
      </p:sp>
      <p:sp>
        <p:nvSpPr>
          <p:cNvPr id="9" name="Shape 7"/>
          <p:cNvSpPr/>
          <p:nvPr/>
        </p:nvSpPr>
        <p:spPr>
          <a:xfrm>
            <a:off x="5160764" y="2098119"/>
            <a:ext cx="91440" cy="1609368"/>
          </a:xfrm>
          <a:prstGeom prst="roundRect">
            <a:avLst>
              <a:gd name="adj" fmla="val 72930"/>
            </a:avLst>
          </a:prstGeom>
          <a:solidFill>
            <a:srgbClr val="F2F2F3"/>
          </a:solidFill>
          <a:ln/>
        </p:spPr>
      </p:sp>
      <p:sp>
        <p:nvSpPr>
          <p:cNvPr id="10" name="Text 8"/>
          <p:cNvSpPr/>
          <p:nvPr/>
        </p:nvSpPr>
        <p:spPr>
          <a:xfrm>
            <a:off x="5433774" y="2279690"/>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E5E0DF"/>
                </a:solidFill>
                <a:latin typeface="Poppins Light" pitchFamily="34" charset="0"/>
                <a:ea typeface="Poppins Light" pitchFamily="34" charset="-122"/>
                <a:cs typeface="Poppins Light" pitchFamily="34" charset="-120"/>
              </a:rPr>
              <a:t>subjects</a:t>
            </a:r>
            <a:endParaRPr lang="en-US" sz="1550" dirty="0"/>
          </a:p>
        </p:txBody>
      </p:sp>
      <p:sp>
        <p:nvSpPr>
          <p:cNvPr id="11" name="Text 9"/>
          <p:cNvSpPr/>
          <p:nvPr/>
        </p:nvSpPr>
        <p:spPr>
          <a:xfrm>
            <a:off x="5433774" y="2603897"/>
            <a:ext cx="3831312" cy="6858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Contains subject metadata such as subject code, name, credit hours, and associated semester. Linked to students via enrollment records.</a:t>
            </a:r>
            <a:endParaRPr lang="en-US" sz="1250" dirty="0"/>
          </a:p>
        </p:txBody>
      </p:sp>
      <p:sp>
        <p:nvSpPr>
          <p:cNvPr id="12" name="Shape 10"/>
          <p:cNvSpPr/>
          <p:nvPr/>
        </p:nvSpPr>
        <p:spPr>
          <a:xfrm>
            <a:off x="9573578" y="2098119"/>
            <a:ext cx="4263033" cy="1609368"/>
          </a:xfrm>
          <a:prstGeom prst="roundRect">
            <a:avLst>
              <a:gd name="adj" fmla="val 6818"/>
            </a:avLst>
          </a:prstGeom>
          <a:solidFill>
            <a:srgbClr val="050505"/>
          </a:solidFill>
          <a:ln w="22860">
            <a:solidFill>
              <a:srgbClr val="56565B"/>
            </a:solidFill>
            <a:prstDash val="solid"/>
          </a:ln>
        </p:spPr>
      </p:sp>
      <p:sp>
        <p:nvSpPr>
          <p:cNvPr id="13" name="Shape 11"/>
          <p:cNvSpPr/>
          <p:nvPr/>
        </p:nvSpPr>
        <p:spPr>
          <a:xfrm>
            <a:off x="9550718" y="2098119"/>
            <a:ext cx="91440" cy="1609368"/>
          </a:xfrm>
          <a:prstGeom prst="roundRect">
            <a:avLst>
              <a:gd name="adj" fmla="val 72930"/>
            </a:avLst>
          </a:prstGeom>
          <a:solidFill>
            <a:srgbClr val="F2F2F3"/>
          </a:solidFill>
          <a:ln/>
        </p:spPr>
      </p:sp>
      <p:sp>
        <p:nvSpPr>
          <p:cNvPr id="14" name="Text 12"/>
          <p:cNvSpPr/>
          <p:nvPr/>
        </p:nvSpPr>
        <p:spPr>
          <a:xfrm>
            <a:off x="9823728" y="2279690"/>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E5E0DF"/>
                </a:solidFill>
                <a:latin typeface="Poppins Light" pitchFamily="34" charset="0"/>
                <a:ea typeface="Poppins Light" pitchFamily="34" charset="-122"/>
                <a:cs typeface="Poppins Light" pitchFamily="34" charset="-120"/>
              </a:rPr>
              <a:t>marks</a:t>
            </a:r>
            <a:endParaRPr lang="en-US" sz="1550" dirty="0"/>
          </a:p>
        </p:txBody>
      </p:sp>
      <p:sp>
        <p:nvSpPr>
          <p:cNvPr id="15" name="Text 13"/>
          <p:cNvSpPr/>
          <p:nvPr/>
        </p:nvSpPr>
        <p:spPr>
          <a:xfrm>
            <a:off x="9823728" y="2603897"/>
            <a:ext cx="3831312" cy="6858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Records assessment scores for each student-subject pair. Includes internal marks, end-term marks, and total percentage for analytics computation.</a:t>
            </a:r>
            <a:endParaRPr lang="en-US" sz="1250" dirty="0"/>
          </a:p>
        </p:txBody>
      </p:sp>
      <p:sp>
        <p:nvSpPr>
          <p:cNvPr id="16" name="Text 14"/>
          <p:cNvSpPr/>
          <p:nvPr/>
        </p:nvSpPr>
        <p:spPr>
          <a:xfrm>
            <a:off x="793790" y="3897987"/>
            <a:ext cx="3766661" cy="248007"/>
          </a:xfrm>
          <a:prstGeom prst="rect">
            <a:avLst/>
          </a:prstGeom>
          <a:noFill/>
          <a:ln/>
        </p:spPr>
        <p:txBody>
          <a:bodyPr wrap="none" lIns="0" tIns="0" rIns="0" bIns="0" rtlCol="0" anchor="t"/>
          <a:lstStyle/>
          <a:p>
            <a:pPr algn="l" indent="0" marL="0">
              <a:lnSpc>
                <a:spcPts val="1950"/>
              </a:lnSpc>
              <a:buNone/>
            </a:pPr>
            <a:r>
              <a:rPr lang="en-US" sz="1550" dirty="0">
                <a:solidFill>
                  <a:srgbClr val="F2F2F3"/>
                </a:solidFill>
                <a:latin typeface="Poppins Light" pitchFamily="34" charset="0"/>
                <a:ea typeface="Poppins Light" pitchFamily="34" charset="-122"/>
                <a:cs typeface="Poppins Light" pitchFamily="34" charset="-120"/>
              </a:rPr>
              <a:t>CRUD Operations via RESTful Endpoints</a:t>
            </a:r>
            <a:endParaRPr lang="en-US" sz="1550" dirty="0"/>
          </a:p>
        </p:txBody>
      </p:sp>
      <p:sp>
        <p:nvSpPr>
          <p:cNvPr id="17" name="Shape 15"/>
          <p:cNvSpPr/>
          <p:nvPr/>
        </p:nvSpPr>
        <p:spPr>
          <a:xfrm>
            <a:off x="793790" y="4336494"/>
            <a:ext cx="357188" cy="357188"/>
          </a:xfrm>
          <a:prstGeom prst="roundRect">
            <a:avLst>
              <a:gd name="adj" fmla="val 18670"/>
            </a:avLst>
          </a:prstGeom>
          <a:solidFill>
            <a:srgbClr val="3D3D42"/>
          </a:solidFill>
          <a:ln w="7620">
            <a:solidFill>
              <a:srgbClr val="56565B"/>
            </a:solidFill>
            <a:prstDash val="solid"/>
          </a:ln>
        </p:spPr>
      </p:sp>
      <p:sp>
        <p:nvSpPr>
          <p:cNvPr id="18" name="Text 16"/>
          <p:cNvSpPr/>
          <p:nvPr/>
        </p:nvSpPr>
        <p:spPr>
          <a:xfrm>
            <a:off x="853321" y="4366260"/>
            <a:ext cx="238125" cy="297656"/>
          </a:xfrm>
          <a:prstGeom prst="rect">
            <a:avLst/>
          </a:prstGeom>
          <a:noFill/>
          <a:ln/>
        </p:spPr>
        <p:txBody>
          <a:bodyPr wrap="none" lIns="0" tIns="0" rIns="0" bIns="0" rtlCol="0" anchor="t"/>
          <a:lstStyle/>
          <a:p>
            <a:pPr algn="ctr" indent="0" marL="0">
              <a:lnSpc>
                <a:spcPts val="1850"/>
              </a:lnSpc>
              <a:buNone/>
            </a:pPr>
            <a:r>
              <a:rPr lang="en-US" sz="1850" dirty="0">
                <a:solidFill>
                  <a:srgbClr val="E5E0DF"/>
                </a:solidFill>
                <a:latin typeface="Poppins Light" pitchFamily="34" charset="0"/>
                <a:ea typeface="Poppins Light" pitchFamily="34" charset="-122"/>
                <a:cs typeface="Poppins Light" pitchFamily="34" charset="-120"/>
              </a:rPr>
              <a:t>1</a:t>
            </a:r>
            <a:endParaRPr lang="en-US" sz="1850" dirty="0"/>
          </a:p>
        </p:txBody>
      </p:sp>
      <p:sp>
        <p:nvSpPr>
          <p:cNvPr id="19" name="Text 17"/>
          <p:cNvSpPr/>
          <p:nvPr/>
        </p:nvSpPr>
        <p:spPr>
          <a:xfrm>
            <a:off x="1277898" y="4391025"/>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E5E0DF"/>
                </a:solidFill>
                <a:latin typeface="Poppins Light" pitchFamily="34" charset="0"/>
                <a:ea typeface="Poppins Light" pitchFamily="34" charset="-122"/>
                <a:cs typeface="Poppins Light" pitchFamily="34" charset="-120"/>
              </a:rPr>
              <a:t>Create</a:t>
            </a:r>
            <a:endParaRPr lang="en-US" sz="1550" dirty="0"/>
          </a:p>
        </p:txBody>
      </p:sp>
      <p:sp>
        <p:nvSpPr>
          <p:cNvPr id="20" name="Text 18"/>
          <p:cNvSpPr/>
          <p:nvPr/>
        </p:nvSpPr>
        <p:spPr>
          <a:xfrm>
            <a:off x="1277898" y="4715232"/>
            <a:ext cx="5957888" cy="46482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highlight>
                  <a:srgbClr val="121212"/>
                </a:highlight>
                <a:latin typeface="Consolas" pitchFamily="34" charset="0"/>
                <a:ea typeface="Consolas" pitchFamily="34" charset="-122"/>
                <a:cs typeface="Consolas" pitchFamily="34" charset="-120"/>
              </a:rPr>
              <a:t>POST /students</a:t>
            </a:r>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 and </a:t>
            </a:r>
            <a:pPr algn="l" indent="0" marL="0">
              <a:lnSpc>
                <a:spcPts val="1800"/>
              </a:lnSpc>
              <a:buNone/>
            </a:pPr>
            <a:r>
              <a:rPr lang="en-US" sz="1250" dirty="0">
                <a:solidFill>
                  <a:srgbClr val="E5E0DF"/>
                </a:solidFill>
                <a:highlight>
                  <a:srgbClr val="121212"/>
                </a:highlight>
                <a:latin typeface="Consolas" pitchFamily="34" charset="0"/>
                <a:ea typeface="Consolas" pitchFamily="34" charset="-122"/>
                <a:cs typeface="Consolas" pitchFamily="34" charset="-120"/>
              </a:rPr>
              <a:t>POST /marks</a:t>
            </a:r>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 — Add new student records or insert mark entries. Input is validated against Mongoose schemas before insertion.</a:t>
            </a:r>
            <a:endParaRPr lang="en-US" sz="1250" dirty="0"/>
          </a:p>
        </p:txBody>
      </p:sp>
      <p:sp>
        <p:nvSpPr>
          <p:cNvPr id="21" name="Shape 19"/>
          <p:cNvSpPr/>
          <p:nvPr/>
        </p:nvSpPr>
        <p:spPr>
          <a:xfrm>
            <a:off x="7394496" y="4336494"/>
            <a:ext cx="357188" cy="357188"/>
          </a:xfrm>
          <a:prstGeom prst="roundRect">
            <a:avLst>
              <a:gd name="adj" fmla="val 18670"/>
            </a:avLst>
          </a:prstGeom>
          <a:solidFill>
            <a:srgbClr val="3D3D42"/>
          </a:solidFill>
          <a:ln w="7620">
            <a:solidFill>
              <a:srgbClr val="56565B"/>
            </a:solidFill>
            <a:prstDash val="solid"/>
          </a:ln>
        </p:spPr>
      </p:sp>
      <p:sp>
        <p:nvSpPr>
          <p:cNvPr id="22" name="Text 20"/>
          <p:cNvSpPr/>
          <p:nvPr/>
        </p:nvSpPr>
        <p:spPr>
          <a:xfrm>
            <a:off x="7454027" y="4366260"/>
            <a:ext cx="238125" cy="297656"/>
          </a:xfrm>
          <a:prstGeom prst="rect">
            <a:avLst/>
          </a:prstGeom>
          <a:noFill/>
          <a:ln/>
        </p:spPr>
        <p:txBody>
          <a:bodyPr wrap="none" lIns="0" tIns="0" rIns="0" bIns="0" rtlCol="0" anchor="t"/>
          <a:lstStyle/>
          <a:p>
            <a:pPr algn="ctr" indent="0" marL="0">
              <a:lnSpc>
                <a:spcPts val="1850"/>
              </a:lnSpc>
              <a:buNone/>
            </a:pPr>
            <a:r>
              <a:rPr lang="en-US" sz="1850" dirty="0">
                <a:solidFill>
                  <a:srgbClr val="E5E0DF"/>
                </a:solidFill>
                <a:latin typeface="Poppins Light" pitchFamily="34" charset="0"/>
                <a:ea typeface="Poppins Light" pitchFamily="34" charset="-122"/>
                <a:cs typeface="Poppins Light" pitchFamily="34" charset="-120"/>
              </a:rPr>
              <a:t>2</a:t>
            </a:r>
            <a:endParaRPr lang="en-US" sz="1850" dirty="0"/>
          </a:p>
        </p:txBody>
      </p:sp>
      <p:sp>
        <p:nvSpPr>
          <p:cNvPr id="23" name="Text 21"/>
          <p:cNvSpPr/>
          <p:nvPr/>
        </p:nvSpPr>
        <p:spPr>
          <a:xfrm>
            <a:off x="7878604" y="4391025"/>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E5E0DF"/>
                </a:solidFill>
                <a:latin typeface="Poppins Light" pitchFamily="34" charset="0"/>
                <a:ea typeface="Poppins Light" pitchFamily="34" charset="-122"/>
                <a:cs typeface="Poppins Light" pitchFamily="34" charset="-120"/>
              </a:rPr>
              <a:t>Read</a:t>
            </a:r>
            <a:endParaRPr lang="en-US" sz="1550" dirty="0"/>
          </a:p>
        </p:txBody>
      </p:sp>
      <p:sp>
        <p:nvSpPr>
          <p:cNvPr id="24" name="Text 22"/>
          <p:cNvSpPr/>
          <p:nvPr/>
        </p:nvSpPr>
        <p:spPr>
          <a:xfrm>
            <a:off x="7878604" y="4715232"/>
            <a:ext cx="5958007" cy="69342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highlight>
                  <a:srgbClr val="121212"/>
                </a:highlight>
                <a:latin typeface="Consolas" pitchFamily="34" charset="0"/>
                <a:ea typeface="Consolas" pitchFamily="34" charset="-122"/>
                <a:cs typeface="Consolas" pitchFamily="34" charset="-120"/>
              </a:rPr>
              <a:t>GET /students/:id</a:t>
            </a:r>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 and </a:t>
            </a:r>
            <a:pPr algn="l" indent="0" marL="0">
              <a:lnSpc>
                <a:spcPts val="1800"/>
              </a:lnSpc>
              <a:buNone/>
            </a:pPr>
            <a:r>
              <a:rPr lang="en-US" sz="1250" dirty="0">
                <a:solidFill>
                  <a:srgbClr val="E5E0DF"/>
                </a:solidFill>
                <a:highlight>
                  <a:srgbClr val="121212"/>
                </a:highlight>
                <a:latin typeface="Consolas" pitchFamily="34" charset="0"/>
                <a:ea typeface="Consolas" pitchFamily="34" charset="-122"/>
                <a:cs typeface="Consolas" pitchFamily="34" charset="-120"/>
              </a:rPr>
              <a:t>GET /marks/student/:id</a:t>
            </a:r>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 — Fetch individual or aggregated student performance data. Supports query parameters for filtering by semester or branch.</a:t>
            </a:r>
            <a:endParaRPr lang="en-US" sz="1250" dirty="0"/>
          </a:p>
        </p:txBody>
      </p:sp>
      <p:sp>
        <p:nvSpPr>
          <p:cNvPr id="25" name="Shape 23"/>
          <p:cNvSpPr/>
          <p:nvPr/>
        </p:nvSpPr>
        <p:spPr>
          <a:xfrm>
            <a:off x="793790" y="5662613"/>
            <a:ext cx="357188" cy="357188"/>
          </a:xfrm>
          <a:prstGeom prst="roundRect">
            <a:avLst>
              <a:gd name="adj" fmla="val 18670"/>
            </a:avLst>
          </a:prstGeom>
          <a:solidFill>
            <a:srgbClr val="3D3D42"/>
          </a:solidFill>
          <a:ln w="7620">
            <a:solidFill>
              <a:srgbClr val="56565B"/>
            </a:solidFill>
            <a:prstDash val="solid"/>
          </a:ln>
        </p:spPr>
      </p:sp>
      <p:sp>
        <p:nvSpPr>
          <p:cNvPr id="26" name="Text 24"/>
          <p:cNvSpPr/>
          <p:nvPr/>
        </p:nvSpPr>
        <p:spPr>
          <a:xfrm>
            <a:off x="853321" y="5692378"/>
            <a:ext cx="238125" cy="297656"/>
          </a:xfrm>
          <a:prstGeom prst="rect">
            <a:avLst/>
          </a:prstGeom>
          <a:noFill/>
          <a:ln/>
        </p:spPr>
        <p:txBody>
          <a:bodyPr wrap="none" lIns="0" tIns="0" rIns="0" bIns="0" rtlCol="0" anchor="t"/>
          <a:lstStyle/>
          <a:p>
            <a:pPr algn="ctr" indent="0" marL="0">
              <a:lnSpc>
                <a:spcPts val="1850"/>
              </a:lnSpc>
              <a:buNone/>
            </a:pPr>
            <a:r>
              <a:rPr lang="en-US" sz="1850" dirty="0">
                <a:solidFill>
                  <a:srgbClr val="E5E0DF"/>
                </a:solidFill>
                <a:latin typeface="Poppins Light" pitchFamily="34" charset="0"/>
                <a:ea typeface="Poppins Light" pitchFamily="34" charset="-122"/>
                <a:cs typeface="Poppins Light" pitchFamily="34" charset="-120"/>
              </a:rPr>
              <a:t>3</a:t>
            </a:r>
            <a:endParaRPr lang="en-US" sz="1850" dirty="0"/>
          </a:p>
        </p:txBody>
      </p:sp>
      <p:sp>
        <p:nvSpPr>
          <p:cNvPr id="27" name="Text 25"/>
          <p:cNvSpPr/>
          <p:nvPr/>
        </p:nvSpPr>
        <p:spPr>
          <a:xfrm>
            <a:off x="1277898" y="5717143"/>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E5E0DF"/>
                </a:solidFill>
                <a:latin typeface="Poppins Light" pitchFamily="34" charset="0"/>
                <a:ea typeface="Poppins Light" pitchFamily="34" charset="-122"/>
                <a:cs typeface="Poppins Light" pitchFamily="34" charset="-120"/>
              </a:rPr>
              <a:t>Update</a:t>
            </a:r>
            <a:endParaRPr lang="en-US" sz="1550" dirty="0"/>
          </a:p>
        </p:txBody>
      </p:sp>
      <p:sp>
        <p:nvSpPr>
          <p:cNvPr id="28" name="Text 26"/>
          <p:cNvSpPr/>
          <p:nvPr/>
        </p:nvSpPr>
        <p:spPr>
          <a:xfrm>
            <a:off x="1277898" y="6041350"/>
            <a:ext cx="5957888" cy="46482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highlight>
                  <a:srgbClr val="121212"/>
                </a:highlight>
                <a:latin typeface="Consolas" pitchFamily="34" charset="0"/>
                <a:ea typeface="Consolas" pitchFamily="34" charset="-122"/>
                <a:cs typeface="Consolas" pitchFamily="34" charset="-120"/>
              </a:rPr>
              <a:t>PUT /marks/:id</a:t>
            </a:r>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 — Modify existing mark records. Validation ensures updated values remain within acceptable ranges (e.g., 0–100).</a:t>
            </a:r>
            <a:endParaRPr lang="en-US" sz="1250" dirty="0"/>
          </a:p>
        </p:txBody>
      </p:sp>
      <p:sp>
        <p:nvSpPr>
          <p:cNvPr id="29" name="Shape 27"/>
          <p:cNvSpPr/>
          <p:nvPr/>
        </p:nvSpPr>
        <p:spPr>
          <a:xfrm>
            <a:off x="7394496" y="5662613"/>
            <a:ext cx="357188" cy="357188"/>
          </a:xfrm>
          <a:prstGeom prst="roundRect">
            <a:avLst>
              <a:gd name="adj" fmla="val 18670"/>
            </a:avLst>
          </a:prstGeom>
          <a:solidFill>
            <a:srgbClr val="3D3D42"/>
          </a:solidFill>
          <a:ln w="7620">
            <a:solidFill>
              <a:srgbClr val="56565B"/>
            </a:solidFill>
            <a:prstDash val="solid"/>
          </a:ln>
        </p:spPr>
      </p:sp>
      <p:sp>
        <p:nvSpPr>
          <p:cNvPr id="30" name="Text 28"/>
          <p:cNvSpPr/>
          <p:nvPr/>
        </p:nvSpPr>
        <p:spPr>
          <a:xfrm>
            <a:off x="7454027" y="5692378"/>
            <a:ext cx="238125" cy="297656"/>
          </a:xfrm>
          <a:prstGeom prst="rect">
            <a:avLst/>
          </a:prstGeom>
          <a:noFill/>
          <a:ln/>
        </p:spPr>
        <p:txBody>
          <a:bodyPr wrap="none" lIns="0" tIns="0" rIns="0" bIns="0" rtlCol="0" anchor="t"/>
          <a:lstStyle/>
          <a:p>
            <a:pPr algn="ctr" indent="0" marL="0">
              <a:lnSpc>
                <a:spcPts val="1850"/>
              </a:lnSpc>
              <a:buNone/>
            </a:pPr>
            <a:r>
              <a:rPr lang="en-US" sz="1850" dirty="0">
                <a:solidFill>
                  <a:srgbClr val="E5E0DF"/>
                </a:solidFill>
                <a:latin typeface="Poppins Light" pitchFamily="34" charset="0"/>
                <a:ea typeface="Poppins Light" pitchFamily="34" charset="-122"/>
                <a:cs typeface="Poppins Light" pitchFamily="34" charset="-120"/>
              </a:rPr>
              <a:t>4</a:t>
            </a:r>
            <a:endParaRPr lang="en-US" sz="1850" dirty="0"/>
          </a:p>
        </p:txBody>
      </p:sp>
      <p:sp>
        <p:nvSpPr>
          <p:cNvPr id="31" name="Text 29"/>
          <p:cNvSpPr/>
          <p:nvPr/>
        </p:nvSpPr>
        <p:spPr>
          <a:xfrm>
            <a:off x="7878604" y="5717143"/>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E5E0DF"/>
                </a:solidFill>
                <a:latin typeface="Poppins Light" pitchFamily="34" charset="0"/>
                <a:ea typeface="Poppins Light" pitchFamily="34" charset="-122"/>
                <a:cs typeface="Poppins Light" pitchFamily="34" charset="-120"/>
              </a:rPr>
              <a:t>Delete</a:t>
            </a:r>
            <a:endParaRPr lang="en-US" sz="1550" dirty="0"/>
          </a:p>
        </p:txBody>
      </p:sp>
      <p:sp>
        <p:nvSpPr>
          <p:cNvPr id="32" name="Text 30"/>
          <p:cNvSpPr/>
          <p:nvPr/>
        </p:nvSpPr>
        <p:spPr>
          <a:xfrm>
            <a:off x="7878604" y="6041350"/>
            <a:ext cx="5958007" cy="47244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highlight>
                  <a:srgbClr val="121212"/>
                </a:highlight>
                <a:latin typeface="Consolas" pitchFamily="34" charset="0"/>
                <a:ea typeface="Consolas" pitchFamily="34" charset="-122"/>
                <a:cs typeface="Consolas" pitchFamily="34" charset="-120"/>
              </a:rPr>
              <a:t>DELETE /students/:id</a:t>
            </a:r>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 — Remove student records and associated marks. Cascading delete logic prevents orphaned documents in the </a:t>
            </a:r>
            <a:pPr algn="l" indent="0" marL="0">
              <a:lnSpc>
                <a:spcPts val="1800"/>
              </a:lnSpc>
              <a:buNone/>
            </a:pPr>
            <a:r>
              <a:rPr lang="en-US" sz="1250" dirty="0">
                <a:solidFill>
                  <a:srgbClr val="E5E0DF"/>
                </a:solidFill>
                <a:highlight>
                  <a:srgbClr val="121212"/>
                </a:highlight>
                <a:latin typeface="Consolas" pitchFamily="34" charset="0"/>
                <a:ea typeface="Consolas" pitchFamily="34" charset="-122"/>
                <a:cs typeface="Consolas" pitchFamily="34" charset="-120"/>
              </a:rPr>
              <a:t>marks</a:t>
            </a:r>
            <a:pPr algn="l" indent="0" marL="0">
              <a:lnSpc>
                <a:spcPts val="1800"/>
              </a:lnSpc>
              <a:buNone/>
            </a:pPr>
            <a:r>
              <a:rPr lang="en-US" sz="1250" dirty="0">
                <a:solidFill>
                  <a:srgbClr val="E5E0DF"/>
                </a:solidFill>
                <a:latin typeface="Roboto Light" pitchFamily="34" charset="0"/>
                <a:ea typeface="Roboto Light" pitchFamily="34" charset="-122"/>
                <a:cs typeface="Roboto Light" pitchFamily="34" charset="-120"/>
              </a:rPr>
              <a:t> collection.</a:t>
            </a:r>
            <a:endParaRPr lang="en-US" sz="1250" dirty="0"/>
          </a:p>
        </p:txBody>
      </p:sp>
      <p:sp>
        <p:nvSpPr>
          <p:cNvPr id="33" name="Shape 31"/>
          <p:cNvSpPr/>
          <p:nvPr/>
        </p:nvSpPr>
        <p:spPr>
          <a:xfrm>
            <a:off x="793790" y="6656665"/>
            <a:ext cx="13042821" cy="824984"/>
          </a:xfrm>
          <a:prstGeom prst="roundRect">
            <a:avLst>
              <a:gd name="adj" fmla="val 8083"/>
            </a:avLst>
          </a:prstGeom>
          <a:solidFill>
            <a:srgbClr val="252528"/>
          </a:solidFill>
          <a:ln/>
        </p:spPr>
      </p:sp>
      <p:pic>
        <p:nvPicPr>
          <p:cNvPr id="34" name="Image 0" descr="preencoded.png">    </p:cNvPr>
          <p:cNvPicPr>
            <a:picLocks noChangeAspect="1"/>
          </p:cNvPicPr>
          <p:nvPr/>
        </p:nvPicPr>
        <p:blipFill>
          <a:blip r:embed="rId1"/>
          <a:stretch>
            <a:fillRect/>
          </a:stretch>
        </p:blipFill>
        <p:spPr>
          <a:xfrm>
            <a:off x="952500" y="6883718"/>
            <a:ext cx="198358" cy="158710"/>
          </a:xfrm>
          <a:prstGeom prst="rect">
            <a:avLst/>
          </a:prstGeom>
        </p:spPr>
      </p:pic>
      <p:sp>
        <p:nvSpPr>
          <p:cNvPr id="35" name="Text 32"/>
          <p:cNvSpPr/>
          <p:nvPr/>
        </p:nvSpPr>
        <p:spPr>
          <a:xfrm>
            <a:off x="1309568" y="6823234"/>
            <a:ext cx="12368332" cy="464820"/>
          </a:xfrm>
          <a:prstGeom prst="rect">
            <a:avLst/>
          </a:prstGeom>
          <a:noFill/>
          <a:ln/>
        </p:spPr>
        <p:txBody>
          <a:bodyPr wrap="square" lIns="0" tIns="0" rIns="0" bIns="0" rtlCol="0" anchor="t"/>
          <a:lstStyle/>
          <a:p>
            <a:pPr algn="l" indent="0" marL="0">
              <a:lnSpc>
                <a:spcPts val="1800"/>
              </a:lnSpc>
              <a:buNone/>
            </a:pPr>
            <a:r>
              <a:rPr lang="en-US" sz="1250" b="1" dirty="0">
                <a:solidFill>
                  <a:srgbClr val="FFFFFF"/>
                </a:solidFill>
                <a:latin typeface="Roboto Light" pitchFamily="34" charset="0"/>
                <a:ea typeface="Roboto Light" pitchFamily="34" charset="-122"/>
                <a:cs typeface="Roboto Light" pitchFamily="34" charset="-120"/>
              </a:rPr>
              <a:t>Sample Query Structure:</a:t>
            </a:r>
            <a:pPr algn="l" indent="0" marL="0">
              <a:lnSpc>
                <a:spcPts val="1800"/>
              </a:lnSpc>
              <a:buNone/>
            </a:pPr>
            <a:r>
              <a:rPr lang="en-US" sz="1250" dirty="0">
                <a:solidFill>
                  <a:srgbClr val="FFFFFF"/>
                </a:solidFill>
                <a:latin typeface="Roboto Light" pitchFamily="34" charset="0"/>
                <a:ea typeface="Roboto Light" pitchFamily="34" charset="-122"/>
                <a:cs typeface="Roboto Light" pitchFamily="34" charset="-120"/>
              </a:rPr>
              <a:t> </a:t>
            </a:r>
            <a:pPr algn="l" indent="0" marL="0">
              <a:lnSpc>
                <a:spcPts val="1800"/>
              </a:lnSpc>
              <a:buNone/>
            </a:pPr>
            <a:r>
              <a:rPr lang="en-US" sz="1250" dirty="0">
                <a:solidFill>
                  <a:srgbClr val="FFFFFF"/>
                </a:solidFill>
                <a:highlight>
                  <a:srgbClr val="121212"/>
                </a:highlight>
                <a:latin typeface="Consolas" pitchFamily="34" charset="0"/>
                <a:ea typeface="Consolas" pitchFamily="34" charset="-122"/>
                <a:cs typeface="Consolas" pitchFamily="34" charset="-120"/>
              </a:rPr>
              <a:t>db.marks.find({ studentId: "2021CSE001", semester: 3 }).sort({ total: -1 })</a:t>
            </a:r>
            <a:pPr algn="l" indent="0" marL="0">
              <a:lnSpc>
                <a:spcPts val="1800"/>
              </a:lnSpc>
              <a:buNone/>
            </a:pPr>
            <a:r>
              <a:rPr lang="en-US" sz="1250" dirty="0">
                <a:solidFill>
                  <a:srgbClr val="FFFFFF"/>
                </a:solidFill>
                <a:latin typeface="Roboto Light" pitchFamily="34" charset="0"/>
                <a:ea typeface="Roboto Light" pitchFamily="34" charset="-122"/>
                <a:cs typeface="Roboto Light" pitchFamily="34" charset="-120"/>
              </a:rPr>
              <a:t> — Fetches all marks for a student in Semester 3, sorted by total score descending.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23768" y="458629"/>
            <a:ext cx="3016329" cy="316825"/>
          </a:xfrm>
          <a:prstGeom prst="rect">
            <a:avLst/>
          </a:prstGeom>
          <a:noFill/>
          <a:ln/>
        </p:spPr>
        <p:txBody>
          <a:bodyPr wrap="none" lIns="0" tIns="0" rIns="0" bIns="0" rtlCol="0" anchor="t"/>
          <a:lstStyle/>
          <a:p>
            <a:pPr algn="l" indent="0" marL="0">
              <a:lnSpc>
                <a:spcPts val="2450"/>
              </a:lnSpc>
              <a:buNone/>
            </a:pPr>
            <a:r>
              <a:rPr lang="en-US" sz="1950" dirty="0">
                <a:solidFill>
                  <a:srgbClr val="F2F2F3"/>
                </a:solidFill>
                <a:latin typeface="Poppins Light" pitchFamily="34" charset="0"/>
                <a:ea typeface="Poppins Light" pitchFamily="34" charset="-122"/>
                <a:cs typeface="Poppins Light" pitchFamily="34" charset="-120"/>
              </a:rPr>
              <a:t>Aggregation &amp; Analytics</a:t>
            </a:r>
            <a:endParaRPr lang="en-US" sz="1950" dirty="0"/>
          </a:p>
        </p:txBody>
      </p:sp>
      <p:sp>
        <p:nvSpPr>
          <p:cNvPr id="3" name="Text 1"/>
          <p:cNvSpPr/>
          <p:nvPr/>
        </p:nvSpPr>
        <p:spPr>
          <a:xfrm>
            <a:off x="623768" y="878919"/>
            <a:ext cx="13382863" cy="244793"/>
          </a:xfrm>
          <a:prstGeom prst="rect">
            <a:avLst/>
          </a:prstGeom>
          <a:noFill/>
          <a:ln/>
        </p:spPr>
        <p:txBody>
          <a:bodyPr wrap="square" lIns="0" tIns="0" rIns="0" bIns="0" rtlCol="0" anchor="t"/>
          <a:lstStyle/>
          <a:p>
            <a:pPr algn="l" indent="0" marL="0">
              <a:lnSpc>
                <a:spcPts val="950"/>
              </a:lnSpc>
              <a:buNone/>
            </a:pPr>
            <a:r>
              <a:rPr lang="en-US" sz="750" dirty="0">
                <a:solidFill>
                  <a:srgbClr val="E5E0DF"/>
                </a:solidFill>
                <a:latin typeface="Roboto Light" pitchFamily="34" charset="0"/>
                <a:ea typeface="Roboto Light" pitchFamily="34" charset="-122"/>
                <a:cs typeface="Roboto Light" pitchFamily="34" charset="-120"/>
              </a:rPr>
              <a:t>MongoDB's Aggregation Framework is the analytical engine of this system. It enables complex data transformations and computations directly within the database layer, reducing application-side processing and delivering fast, data-driven insights. The pipeline approach allows multiple stages to be chained together for powerful query composition.</a:t>
            </a:r>
            <a:endParaRPr lang="en-US" sz="750" dirty="0"/>
          </a:p>
        </p:txBody>
      </p:sp>
      <p:sp>
        <p:nvSpPr>
          <p:cNvPr id="4" name="Text 2"/>
          <p:cNvSpPr/>
          <p:nvPr/>
        </p:nvSpPr>
        <p:spPr>
          <a:xfrm>
            <a:off x="623768" y="1233607"/>
            <a:ext cx="1797725" cy="158353"/>
          </a:xfrm>
          <a:prstGeom prst="rect">
            <a:avLst/>
          </a:prstGeom>
          <a:noFill/>
          <a:ln/>
        </p:spPr>
        <p:txBody>
          <a:bodyPr wrap="none" lIns="0" tIns="0" rIns="0" bIns="0" rtlCol="0" anchor="t"/>
          <a:lstStyle/>
          <a:p>
            <a:pPr algn="l" indent="0" marL="0">
              <a:lnSpc>
                <a:spcPts val="1200"/>
              </a:lnSpc>
              <a:buNone/>
            </a:pPr>
            <a:r>
              <a:rPr lang="en-US" sz="950" dirty="0">
                <a:solidFill>
                  <a:srgbClr val="F2F2F3"/>
                </a:solidFill>
                <a:latin typeface="Poppins Light" pitchFamily="34" charset="0"/>
                <a:ea typeface="Poppins Light" pitchFamily="34" charset="-122"/>
                <a:cs typeface="Poppins Light" pitchFamily="34" charset="-120"/>
              </a:rPr>
              <a:t>Aggregation Operators Used</a:t>
            </a:r>
            <a:endParaRPr lang="en-US" sz="950" dirty="0"/>
          </a:p>
        </p:txBody>
      </p:sp>
      <p:sp>
        <p:nvSpPr>
          <p:cNvPr id="5" name="Shape 3"/>
          <p:cNvSpPr/>
          <p:nvPr/>
        </p:nvSpPr>
        <p:spPr>
          <a:xfrm>
            <a:off x="623768" y="1450181"/>
            <a:ext cx="3258026" cy="550307"/>
          </a:xfrm>
          <a:prstGeom prst="roundRect">
            <a:avLst>
              <a:gd name="adj" fmla="val 7737"/>
            </a:avLst>
          </a:prstGeom>
          <a:solidFill>
            <a:srgbClr val="3D3D42"/>
          </a:solidFill>
          <a:ln w="7620">
            <a:solidFill>
              <a:srgbClr val="56565B"/>
            </a:solidFill>
            <a:prstDash val="solid"/>
          </a:ln>
        </p:spPr>
      </p:sp>
      <p:sp>
        <p:nvSpPr>
          <p:cNvPr id="6" name="Text 4"/>
          <p:cNvSpPr/>
          <p:nvPr/>
        </p:nvSpPr>
        <p:spPr>
          <a:xfrm>
            <a:off x="732711" y="1559123"/>
            <a:ext cx="1267063" cy="158353"/>
          </a:xfrm>
          <a:prstGeom prst="rect">
            <a:avLst/>
          </a:prstGeom>
          <a:noFill/>
          <a:ln/>
        </p:spPr>
        <p:txBody>
          <a:bodyPr wrap="none" lIns="0" tIns="0" rIns="0" bIns="0" rtlCol="0" anchor="t"/>
          <a:lstStyle/>
          <a:p>
            <a:pPr algn="l" indent="0" marL="0">
              <a:lnSpc>
                <a:spcPts val="1200"/>
              </a:lnSpc>
              <a:buNone/>
            </a:pPr>
            <a:r>
              <a:rPr lang="en-US" sz="950" dirty="0">
                <a:solidFill>
                  <a:srgbClr val="E5E0DF"/>
                </a:solidFill>
                <a:latin typeface="Poppins Light" pitchFamily="34" charset="0"/>
                <a:ea typeface="Poppins Light" pitchFamily="34" charset="-122"/>
                <a:cs typeface="Poppins Light" pitchFamily="34" charset="-120"/>
              </a:rPr>
              <a:t>$match</a:t>
            </a:r>
            <a:endParaRPr lang="en-US" sz="950" dirty="0"/>
          </a:p>
        </p:txBody>
      </p:sp>
      <p:sp>
        <p:nvSpPr>
          <p:cNvPr id="7" name="Text 5"/>
          <p:cNvSpPr/>
          <p:nvPr/>
        </p:nvSpPr>
        <p:spPr>
          <a:xfrm>
            <a:off x="732711" y="1769150"/>
            <a:ext cx="3040142" cy="122396"/>
          </a:xfrm>
          <a:prstGeom prst="rect">
            <a:avLst/>
          </a:prstGeom>
          <a:noFill/>
          <a:ln/>
        </p:spPr>
        <p:txBody>
          <a:bodyPr wrap="none" lIns="0" tIns="0" rIns="0" bIns="0" rtlCol="0" anchor="t"/>
          <a:lstStyle/>
          <a:p>
            <a:pPr algn="l" indent="0" marL="0">
              <a:lnSpc>
                <a:spcPts val="950"/>
              </a:lnSpc>
              <a:buNone/>
            </a:pPr>
            <a:r>
              <a:rPr lang="en-US" sz="750" dirty="0">
                <a:solidFill>
                  <a:srgbClr val="E5E0DF"/>
                </a:solidFill>
                <a:latin typeface="Roboto Light" pitchFamily="34" charset="0"/>
                <a:ea typeface="Roboto Light" pitchFamily="34" charset="-122"/>
                <a:cs typeface="Roboto Light" pitchFamily="34" charset="-120"/>
              </a:rPr>
              <a:t>Filters documents — e.g., students scoring above 75%.</a:t>
            </a:r>
            <a:endParaRPr lang="en-US" sz="750" dirty="0"/>
          </a:p>
        </p:txBody>
      </p:sp>
      <p:sp>
        <p:nvSpPr>
          <p:cNvPr id="8" name="Shape 6"/>
          <p:cNvSpPr/>
          <p:nvPr/>
        </p:nvSpPr>
        <p:spPr>
          <a:xfrm>
            <a:off x="3933468" y="1450181"/>
            <a:ext cx="3258145" cy="550307"/>
          </a:xfrm>
          <a:prstGeom prst="roundRect">
            <a:avLst>
              <a:gd name="adj" fmla="val 7737"/>
            </a:avLst>
          </a:prstGeom>
          <a:solidFill>
            <a:srgbClr val="3D3D42"/>
          </a:solidFill>
          <a:ln w="7620">
            <a:solidFill>
              <a:srgbClr val="56565B"/>
            </a:solidFill>
            <a:prstDash val="solid"/>
          </a:ln>
        </p:spPr>
      </p:sp>
      <p:sp>
        <p:nvSpPr>
          <p:cNvPr id="9" name="Text 7"/>
          <p:cNvSpPr/>
          <p:nvPr/>
        </p:nvSpPr>
        <p:spPr>
          <a:xfrm>
            <a:off x="4042410" y="1559123"/>
            <a:ext cx="1267063" cy="158353"/>
          </a:xfrm>
          <a:prstGeom prst="rect">
            <a:avLst/>
          </a:prstGeom>
          <a:noFill/>
          <a:ln/>
        </p:spPr>
        <p:txBody>
          <a:bodyPr wrap="none" lIns="0" tIns="0" rIns="0" bIns="0" rtlCol="0" anchor="t"/>
          <a:lstStyle/>
          <a:p>
            <a:pPr algn="l" indent="0" marL="0">
              <a:lnSpc>
                <a:spcPts val="1200"/>
              </a:lnSpc>
              <a:buNone/>
            </a:pPr>
            <a:r>
              <a:rPr lang="en-US" sz="950" dirty="0">
                <a:solidFill>
                  <a:srgbClr val="E5E0DF"/>
                </a:solidFill>
                <a:latin typeface="Poppins Light" pitchFamily="34" charset="0"/>
                <a:ea typeface="Poppins Light" pitchFamily="34" charset="-122"/>
                <a:cs typeface="Poppins Light" pitchFamily="34" charset="-120"/>
              </a:rPr>
              <a:t>$group</a:t>
            </a:r>
            <a:endParaRPr lang="en-US" sz="950" dirty="0"/>
          </a:p>
        </p:txBody>
      </p:sp>
      <p:sp>
        <p:nvSpPr>
          <p:cNvPr id="10" name="Text 8"/>
          <p:cNvSpPr/>
          <p:nvPr/>
        </p:nvSpPr>
        <p:spPr>
          <a:xfrm>
            <a:off x="4042410" y="1769150"/>
            <a:ext cx="3040261" cy="122396"/>
          </a:xfrm>
          <a:prstGeom prst="rect">
            <a:avLst/>
          </a:prstGeom>
          <a:noFill/>
          <a:ln/>
        </p:spPr>
        <p:txBody>
          <a:bodyPr wrap="none" lIns="0" tIns="0" rIns="0" bIns="0" rtlCol="0" anchor="t"/>
          <a:lstStyle/>
          <a:p>
            <a:pPr algn="l" indent="0" marL="0">
              <a:lnSpc>
                <a:spcPts val="950"/>
              </a:lnSpc>
              <a:buNone/>
            </a:pPr>
            <a:r>
              <a:rPr lang="en-US" sz="750" dirty="0">
                <a:solidFill>
                  <a:srgbClr val="E5E0DF"/>
                </a:solidFill>
                <a:latin typeface="Roboto Light" pitchFamily="34" charset="0"/>
                <a:ea typeface="Roboto Light" pitchFamily="34" charset="-122"/>
                <a:cs typeface="Roboto Light" pitchFamily="34" charset="-120"/>
              </a:rPr>
              <a:t>Groups documents by student or subject for aggregate calculations.</a:t>
            </a:r>
            <a:endParaRPr lang="en-US" sz="750" dirty="0"/>
          </a:p>
        </p:txBody>
      </p:sp>
      <p:sp>
        <p:nvSpPr>
          <p:cNvPr id="11" name="Shape 9"/>
          <p:cNvSpPr/>
          <p:nvPr/>
        </p:nvSpPr>
        <p:spPr>
          <a:xfrm>
            <a:off x="623768" y="2052161"/>
            <a:ext cx="3258026" cy="550307"/>
          </a:xfrm>
          <a:prstGeom prst="roundRect">
            <a:avLst>
              <a:gd name="adj" fmla="val 7737"/>
            </a:avLst>
          </a:prstGeom>
          <a:solidFill>
            <a:srgbClr val="3D3D42"/>
          </a:solidFill>
          <a:ln w="7620">
            <a:solidFill>
              <a:srgbClr val="56565B"/>
            </a:solidFill>
            <a:prstDash val="solid"/>
          </a:ln>
        </p:spPr>
      </p:sp>
      <p:sp>
        <p:nvSpPr>
          <p:cNvPr id="12" name="Text 10"/>
          <p:cNvSpPr/>
          <p:nvPr/>
        </p:nvSpPr>
        <p:spPr>
          <a:xfrm>
            <a:off x="732711" y="2161103"/>
            <a:ext cx="1267063" cy="158353"/>
          </a:xfrm>
          <a:prstGeom prst="rect">
            <a:avLst/>
          </a:prstGeom>
          <a:noFill/>
          <a:ln/>
        </p:spPr>
        <p:txBody>
          <a:bodyPr wrap="none" lIns="0" tIns="0" rIns="0" bIns="0" rtlCol="0" anchor="t"/>
          <a:lstStyle/>
          <a:p>
            <a:pPr algn="l" indent="0" marL="0">
              <a:lnSpc>
                <a:spcPts val="1200"/>
              </a:lnSpc>
              <a:buNone/>
            </a:pPr>
            <a:r>
              <a:rPr lang="en-US" sz="950" dirty="0">
                <a:solidFill>
                  <a:srgbClr val="E5E0DF"/>
                </a:solidFill>
                <a:latin typeface="Poppins Light" pitchFamily="34" charset="0"/>
                <a:ea typeface="Poppins Light" pitchFamily="34" charset="-122"/>
                <a:cs typeface="Poppins Light" pitchFamily="34" charset="-120"/>
              </a:rPr>
              <a:t>$avg</a:t>
            </a:r>
            <a:endParaRPr lang="en-US" sz="950" dirty="0"/>
          </a:p>
        </p:txBody>
      </p:sp>
      <p:sp>
        <p:nvSpPr>
          <p:cNvPr id="13" name="Text 11"/>
          <p:cNvSpPr/>
          <p:nvPr/>
        </p:nvSpPr>
        <p:spPr>
          <a:xfrm>
            <a:off x="732711" y="2371130"/>
            <a:ext cx="3040142" cy="122396"/>
          </a:xfrm>
          <a:prstGeom prst="rect">
            <a:avLst/>
          </a:prstGeom>
          <a:noFill/>
          <a:ln/>
        </p:spPr>
        <p:txBody>
          <a:bodyPr wrap="none" lIns="0" tIns="0" rIns="0" bIns="0" rtlCol="0" anchor="t"/>
          <a:lstStyle/>
          <a:p>
            <a:pPr algn="l" indent="0" marL="0">
              <a:lnSpc>
                <a:spcPts val="950"/>
              </a:lnSpc>
              <a:buNone/>
            </a:pPr>
            <a:r>
              <a:rPr lang="en-US" sz="750" dirty="0">
                <a:solidFill>
                  <a:srgbClr val="E5E0DF"/>
                </a:solidFill>
                <a:latin typeface="Roboto Light" pitchFamily="34" charset="0"/>
                <a:ea typeface="Roboto Light" pitchFamily="34" charset="-122"/>
                <a:cs typeface="Roboto Light" pitchFamily="34" charset="-120"/>
              </a:rPr>
              <a:t>Computes average marks per student across all subjects.</a:t>
            </a:r>
            <a:endParaRPr lang="en-US" sz="750" dirty="0"/>
          </a:p>
        </p:txBody>
      </p:sp>
      <p:sp>
        <p:nvSpPr>
          <p:cNvPr id="14" name="Shape 12"/>
          <p:cNvSpPr/>
          <p:nvPr/>
        </p:nvSpPr>
        <p:spPr>
          <a:xfrm>
            <a:off x="3933468" y="2052161"/>
            <a:ext cx="3258145" cy="550307"/>
          </a:xfrm>
          <a:prstGeom prst="roundRect">
            <a:avLst>
              <a:gd name="adj" fmla="val 7737"/>
            </a:avLst>
          </a:prstGeom>
          <a:solidFill>
            <a:srgbClr val="3D3D42"/>
          </a:solidFill>
          <a:ln w="7620">
            <a:solidFill>
              <a:srgbClr val="56565B"/>
            </a:solidFill>
            <a:prstDash val="solid"/>
          </a:ln>
        </p:spPr>
      </p:sp>
      <p:sp>
        <p:nvSpPr>
          <p:cNvPr id="15" name="Text 13"/>
          <p:cNvSpPr/>
          <p:nvPr/>
        </p:nvSpPr>
        <p:spPr>
          <a:xfrm>
            <a:off x="4042410" y="2161103"/>
            <a:ext cx="1267063" cy="158353"/>
          </a:xfrm>
          <a:prstGeom prst="rect">
            <a:avLst/>
          </a:prstGeom>
          <a:noFill/>
          <a:ln/>
        </p:spPr>
        <p:txBody>
          <a:bodyPr wrap="none" lIns="0" tIns="0" rIns="0" bIns="0" rtlCol="0" anchor="t"/>
          <a:lstStyle/>
          <a:p>
            <a:pPr algn="l" indent="0" marL="0">
              <a:lnSpc>
                <a:spcPts val="1200"/>
              </a:lnSpc>
              <a:buNone/>
            </a:pPr>
            <a:r>
              <a:rPr lang="en-US" sz="950" dirty="0">
                <a:solidFill>
                  <a:srgbClr val="E5E0DF"/>
                </a:solidFill>
                <a:latin typeface="Poppins Light" pitchFamily="34" charset="0"/>
                <a:ea typeface="Poppins Light" pitchFamily="34" charset="-122"/>
                <a:cs typeface="Poppins Light" pitchFamily="34" charset="-120"/>
              </a:rPr>
              <a:t>$sort</a:t>
            </a:r>
            <a:endParaRPr lang="en-US" sz="950" dirty="0"/>
          </a:p>
        </p:txBody>
      </p:sp>
      <p:sp>
        <p:nvSpPr>
          <p:cNvPr id="16" name="Text 14"/>
          <p:cNvSpPr/>
          <p:nvPr/>
        </p:nvSpPr>
        <p:spPr>
          <a:xfrm>
            <a:off x="4042410" y="2371130"/>
            <a:ext cx="3040261" cy="122396"/>
          </a:xfrm>
          <a:prstGeom prst="rect">
            <a:avLst/>
          </a:prstGeom>
          <a:noFill/>
          <a:ln/>
        </p:spPr>
        <p:txBody>
          <a:bodyPr wrap="none" lIns="0" tIns="0" rIns="0" bIns="0" rtlCol="0" anchor="t"/>
          <a:lstStyle/>
          <a:p>
            <a:pPr algn="l" indent="0" marL="0">
              <a:lnSpc>
                <a:spcPts val="950"/>
              </a:lnSpc>
              <a:buNone/>
            </a:pPr>
            <a:r>
              <a:rPr lang="en-US" sz="750" dirty="0">
                <a:solidFill>
                  <a:srgbClr val="E5E0DF"/>
                </a:solidFill>
                <a:latin typeface="Roboto Light" pitchFamily="34" charset="0"/>
                <a:ea typeface="Roboto Light" pitchFamily="34" charset="-122"/>
                <a:cs typeface="Roboto Light" pitchFamily="34" charset="-120"/>
              </a:rPr>
              <a:t>Orders results — used to rank top performers.</a:t>
            </a:r>
            <a:endParaRPr lang="en-US" sz="750" dirty="0"/>
          </a:p>
        </p:txBody>
      </p:sp>
      <p:sp>
        <p:nvSpPr>
          <p:cNvPr id="17" name="Shape 15"/>
          <p:cNvSpPr/>
          <p:nvPr/>
        </p:nvSpPr>
        <p:spPr>
          <a:xfrm>
            <a:off x="7373422" y="1181933"/>
            <a:ext cx="6713815" cy="1478756"/>
          </a:xfrm>
          <a:prstGeom prst="roundRect">
            <a:avLst>
              <a:gd name="adj" fmla="val 4936"/>
            </a:avLst>
          </a:prstGeom>
          <a:solidFill>
            <a:srgbClr val="F2F2F3"/>
          </a:solidFill>
          <a:ln/>
        </p:spPr>
      </p:sp>
      <p:sp>
        <p:nvSpPr>
          <p:cNvPr id="18" name="Text 16"/>
          <p:cNvSpPr/>
          <p:nvPr/>
        </p:nvSpPr>
        <p:spPr>
          <a:xfrm>
            <a:off x="7474744" y="1233607"/>
            <a:ext cx="1806297" cy="158353"/>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Poppins Light" pitchFamily="34" charset="0"/>
                <a:ea typeface="Poppins Light" pitchFamily="34" charset="-122"/>
                <a:cs typeface="Poppins Light" pitchFamily="34" charset="-120"/>
              </a:rPr>
              <a:t>Analytical Features Delivered</a:t>
            </a:r>
            <a:endParaRPr lang="en-US" sz="950" dirty="0"/>
          </a:p>
        </p:txBody>
      </p:sp>
      <p:sp>
        <p:nvSpPr>
          <p:cNvPr id="19" name="Text 17"/>
          <p:cNvSpPr/>
          <p:nvPr/>
        </p:nvSpPr>
        <p:spPr>
          <a:xfrm>
            <a:off x="7474744" y="1443633"/>
            <a:ext cx="6511171" cy="566738"/>
          </a:xfrm>
          <a:prstGeom prst="rect">
            <a:avLst/>
          </a:prstGeom>
          <a:noFill/>
          <a:ln/>
        </p:spPr>
        <p:txBody>
          <a:bodyPr wrap="square" lIns="0" tIns="0" rIns="0" bIns="0" rtlCol="0" anchor="t"/>
          <a:lstStyle/>
          <a:p>
            <a:pPr algn="l" marL="342900" indent="-342900">
              <a:lnSpc>
                <a:spcPts val="950"/>
              </a:lnSpc>
              <a:buSzPct val="100000"/>
              <a:buChar char="•"/>
            </a:pPr>
            <a:r>
              <a:rPr lang="en-US" sz="750" b="1" dirty="0">
                <a:solidFill>
                  <a:srgbClr val="000000"/>
                </a:solidFill>
                <a:latin typeface="Roboto Light" pitchFamily="34" charset="0"/>
                <a:ea typeface="Roboto Light" pitchFamily="34" charset="-122"/>
                <a:cs typeface="Roboto Light" pitchFamily="34" charset="-120"/>
              </a:rPr>
              <a:t>Average Marks Per Student</a:t>
            </a:r>
            <a:pPr algn="l" indent="0" marL="0">
              <a:lnSpc>
                <a:spcPts val="950"/>
              </a:lnSpc>
              <a:buNone/>
            </a:pPr>
            <a:r>
              <a:rPr lang="en-US" sz="750" dirty="0">
                <a:solidFill>
                  <a:srgbClr val="000000"/>
                </a:solidFill>
                <a:latin typeface="Roboto Light" pitchFamily="34" charset="0"/>
                <a:ea typeface="Roboto Light" pitchFamily="34" charset="-122"/>
                <a:cs typeface="Roboto Light" pitchFamily="34" charset="-120"/>
              </a:rPr>
              <a:t> — Computes overall percentage across all enrolled subjects using </a:t>
            </a:r>
            <a:pPr algn="l" indent="0" marL="0">
              <a:lnSpc>
                <a:spcPts val="950"/>
              </a:lnSpc>
              <a:buNone/>
            </a:pPr>
            <a:r>
              <a:rPr lang="en-US" sz="750" dirty="0">
                <a:solidFill>
                  <a:srgbClr val="000000"/>
                </a:solidFill>
                <a:highlight>
                  <a:srgbClr val="E5E5E6"/>
                </a:highlight>
                <a:latin typeface="Consolas" pitchFamily="34" charset="0"/>
                <a:ea typeface="Consolas" pitchFamily="34" charset="-122"/>
                <a:cs typeface="Consolas" pitchFamily="34" charset="-120"/>
              </a:rPr>
              <a:t>$group</a:t>
            </a:r>
            <a:pPr algn="l" indent="0" marL="0">
              <a:lnSpc>
                <a:spcPts val="950"/>
              </a:lnSpc>
              <a:buNone/>
            </a:pPr>
            <a:r>
              <a:rPr lang="en-US" sz="750" dirty="0">
                <a:solidFill>
                  <a:srgbClr val="000000"/>
                </a:solidFill>
                <a:latin typeface="Roboto Light" pitchFamily="34" charset="0"/>
                <a:ea typeface="Roboto Light" pitchFamily="34" charset="-122"/>
                <a:cs typeface="Roboto Light" pitchFamily="34" charset="-120"/>
              </a:rPr>
              <a:t> and </a:t>
            </a:r>
            <a:pPr algn="l" indent="0" marL="0">
              <a:lnSpc>
                <a:spcPts val="950"/>
              </a:lnSpc>
              <a:buNone/>
            </a:pPr>
            <a:r>
              <a:rPr lang="en-US" sz="750" dirty="0">
                <a:solidFill>
                  <a:srgbClr val="000000"/>
                </a:solidFill>
                <a:highlight>
                  <a:srgbClr val="E5E5E6"/>
                </a:highlight>
                <a:latin typeface="Consolas" pitchFamily="34" charset="0"/>
                <a:ea typeface="Consolas" pitchFamily="34" charset="-122"/>
                <a:cs typeface="Consolas" pitchFamily="34" charset="-120"/>
              </a:rPr>
              <a:t>$avg</a:t>
            </a:r>
            <a:pPr algn="l" indent="0" marL="0">
              <a:lnSpc>
                <a:spcPts val="950"/>
              </a:lnSpc>
              <a:buNone/>
            </a:pPr>
            <a:r>
              <a:rPr lang="en-US" sz="750" dirty="0">
                <a:solidFill>
                  <a:srgbClr val="000000"/>
                </a:solidFill>
                <a:latin typeface="Roboto Light" pitchFamily="34" charset="0"/>
                <a:ea typeface="Roboto Light" pitchFamily="34" charset="-122"/>
                <a:cs typeface="Roboto Light" pitchFamily="34" charset="-120"/>
              </a:rPr>
              <a:t>.</a:t>
            </a:r>
            <a:endParaRPr lang="en-US" sz="750" dirty="0"/>
          </a:p>
          <a:p>
            <a:pPr algn="l" marL="342900" indent="-342900">
              <a:lnSpc>
                <a:spcPts val="950"/>
              </a:lnSpc>
              <a:buSzPct val="100000"/>
              <a:buChar char="•"/>
            </a:pPr>
            <a:r>
              <a:rPr lang="en-US" sz="750" b="1" dirty="0">
                <a:solidFill>
                  <a:srgbClr val="000000"/>
                </a:solidFill>
                <a:latin typeface="Roboto Light" pitchFamily="34" charset="0"/>
                <a:ea typeface="Roboto Light" pitchFamily="34" charset="-122"/>
                <a:cs typeface="Roboto Light" pitchFamily="34" charset="-120"/>
              </a:rPr>
              <a:t>Top 3 Performers</a:t>
            </a:r>
            <a:pPr algn="l" indent="0" marL="0">
              <a:lnSpc>
                <a:spcPts val="950"/>
              </a:lnSpc>
              <a:buNone/>
            </a:pPr>
            <a:r>
              <a:rPr lang="en-US" sz="750" dirty="0">
                <a:solidFill>
                  <a:srgbClr val="000000"/>
                </a:solidFill>
                <a:latin typeface="Roboto Light" pitchFamily="34" charset="0"/>
                <a:ea typeface="Roboto Light" pitchFamily="34" charset="-122"/>
                <a:cs typeface="Roboto Light" pitchFamily="34" charset="-120"/>
              </a:rPr>
              <a:t> — Ranks students by total score and returns the top three using </a:t>
            </a:r>
            <a:pPr algn="l" indent="0" marL="0">
              <a:lnSpc>
                <a:spcPts val="950"/>
              </a:lnSpc>
              <a:buNone/>
            </a:pPr>
            <a:r>
              <a:rPr lang="en-US" sz="750" dirty="0">
                <a:solidFill>
                  <a:srgbClr val="000000"/>
                </a:solidFill>
                <a:highlight>
                  <a:srgbClr val="E5E5E6"/>
                </a:highlight>
                <a:latin typeface="Consolas" pitchFamily="34" charset="0"/>
                <a:ea typeface="Consolas" pitchFamily="34" charset="-122"/>
                <a:cs typeface="Consolas" pitchFamily="34" charset="-120"/>
              </a:rPr>
              <a:t>$sort</a:t>
            </a:r>
            <a:pPr algn="l" indent="0" marL="0">
              <a:lnSpc>
                <a:spcPts val="950"/>
              </a:lnSpc>
              <a:buNone/>
            </a:pPr>
            <a:r>
              <a:rPr lang="en-US" sz="750" dirty="0">
                <a:solidFill>
                  <a:srgbClr val="000000"/>
                </a:solidFill>
                <a:latin typeface="Roboto Light" pitchFamily="34" charset="0"/>
                <a:ea typeface="Roboto Light" pitchFamily="34" charset="-122"/>
                <a:cs typeface="Roboto Light" pitchFamily="34" charset="-120"/>
              </a:rPr>
              <a:t> and </a:t>
            </a:r>
            <a:pPr algn="l" indent="0" marL="0">
              <a:lnSpc>
                <a:spcPts val="950"/>
              </a:lnSpc>
              <a:buNone/>
            </a:pPr>
            <a:r>
              <a:rPr lang="en-US" sz="750" dirty="0">
                <a:solidFill>
                  <a:srgbClr val="000000"/>
                </a:solidFill>
                <a:highlight>
                  <a:srgbClr val="E5E5E6"/>
                </a:highlight>
                <a:latin typeface="Consolas" pitchFamily="34" charset="0"/>
                <a:ea typeface="Consolas" pitchFamily="34" charset="-122"/>
                <a:cs typeface="Consolas" pitchFamily="34" charset="-120"/>
              </a:rPr>
              <a:t>$limit</a:t>
            </a:r>
            <a:pPr algn="l" indent="0" marL="0">
              <a:lnSpc>
                <a:spcPts val="950"/>
              </a:lnSpc>
              <a:buNone/>
            </a:pPr>
            <a:r>
              <a:rPr lang="en-US" sz="750" dirty="0">
                <a:solidFill>
                  <a:srgbClr val="000000"/>
                </a:solidFill>
                <a:latin typeface="Roboto Light" pitchFamily="34" charset="0"/>
                <a:ea typeface="Roboto Light" pitchFamily="34" charset="-122"/>
                <a:cs typeface="Roboto Light" pitchFamily="34" charset="-120"/>
              </a:rPr>
              <a:t>.</a:t>
            </a:r>
            <a:endParaRPr lang="en-US" sz="750" dirty="0"/>
          </a:p>
          <a:p>
            <a:pPr algn="l" marL="342900" indent="-342900">
              <a:lnSpc>
                <a:spcPts val="950"/>
              </a:lnSpc>
              <a:buSzPct val="100000"/>
              <a:buChar char="•"/>
            </a:pPr>
            <a:r>
              <a:rPr lang="en-US" sz="750" b="1" dirty="0">
                <a:solidFill>
                  <a:srgbClr val="000000"/>
                </a:solidFill>
                <a:latin typeface="Roboto Light" pitchFamily="34" charset="0"/>
                <a:ea typeface="Roboto Light" pitchFamily="34" charset="-122"/>
                <a:cs typeface="Roboto Light" pitchFamily="34" charset="-120"/>
              </a:rPr>
              <a:t>High Achievers Filter</a:t>
            </a:r>
            <a:pPr algn="l" indent="0" marL="0">
              <a:lnSpc>
                <a:spcPts val="950"/>
              </a:lnSpc>
              <a:buNone/>
            </a:pPr>
            <a:r>
              <a:rPr lang="en-US" sz="750" dirty="0">
                <a:solidFill>
                  <a:srgbClr val="000000"/>
                </a:solidFill>
                <a:latin typeface="Roboto Light" pitchFamily="34" charset="0"/>
                <a:ea typeface="Roboto Light" pitchFamily="34" charset="-122"/>
                <a:cs typeface="Roboto Light" pitchFamily="34" charset="-120"/>
              </a:rPr>
              <a:t> — Identifies students scoring above 75% using </a:t>
            </a:r>
            <a:pPr algn="l" indent="0" marL="0">
              <a:lnSpc>
                <a:spcPts val="950"/>
              </a:lnSpc>
              <a:buNone/>
            </a:pPr>
            <a:r>
              <a:rPr lang="en-US" sz="750" dirty="0">
                <a:solidFill>
                  <a:srgbClr val="000000"/>
                </a:solidFill>
                <a:highlight>
                  <a:srgbClr val="E5E5E6"/>
                </a:highlight>
                <a:latin typeface="Consolas" pitchFamily="34" charset="0"/>
                <a:ea typeface="Consolas" pitchFamily="34" charset="-122"/>
                <a:cs typeface="Consolas" pitchFamily="34" charset="-120"/>
              </a:rPr>
              <a:t>$match</a:t>
            </a:r>
            <a:pPr algn="l" indent="0" marL="0">
              <a:lnSpc>
                <a:spcPts val="950"/>
              </a:lnSpc>
              <a:buNone/>
            </a:pPr>
            <a:r>
              <a:rPr lang="en-US" sz="750" dirty="0">
                <a:solidFill>
                  <a:srgbClr val="000000"/>
                </a:solidFill>
                <a:latin typeface="Roboto Light" pitchFamily="34" charset="0"/>
                <a:ea typeface="Roboto Light" pitchFamily="34" charset="-122"/>
                <a:cs typeface="Roboto Light" pitchFamily="34" charset="-120"/>
              </a:rPr>
              <a:t> with a conditional expression.</a:t>
            </a:r>
            <a:endParaRPr lang="en-US" sz="750" dirty="0"/>
          </a:p>
          <a:p>
            <a:pPr algn="l" marL="342900" indent="-342900">
              <a:lnSpc>
                <a:spcPts val="950"/>
              </a:lnSpc>
              <a:buSzPct val="100000"/>
              <a:buChar char="•"/>
            </a:pPr>
            <a:r>
              <a:rPr lang="en-US" sz="750" b="1" dirty="0">
                <a:solidFill>
                  <a:srgbClr val="000000"/>
                </a:solidFill>
                <a:latin typeface="Roboto Light" pitchFamily="34" charset="0"/>
                <a:ea typeface="Roboto Light" pitchFamily="34" charset="-122"/>
                <a:cs typeface="Roboto Light" pitchFamily="34" charset="-120"/>
              </a:rPr>
              <a:t>Subject-wise Breakdown</a:t>
            </a:r>
            <a:pPr algn="l" indent="0" marL="0">
              <a:lnSpc>
                <a:spcPts val="950"/>
              </a:lnSpc>
              <a:buNone/>
            </a:pPr>
            <a:r>
              <a:rPr lang="en-US" sz="750" dirty="0">
                <a:solidFill>
                  <a:srgbClr val="000000"/>
                </a:solidFill>
                <a:latin typeface="Roboto Light" pitchFamily="34" charset="0"/>
                <a:ea typeface="Roboto Light" pitchFamily="34" charset="-122"/>
                <a:cs typeface="Roboto Light" pitchFamily="34" charset="-120"/>
              </a:rPr>
              <a:t> — Aggregates scores grouped by subject to highlight class performance trends.</a:t>
            </a:r>
            <a:endParaRPr lang="en-US" sz="750" dirty="0"/>
          </a:p>
        </p:txBody>
      </p:sp>
      <p:sp>
        <p:nvSpPr>
          <p:cNvPr id="20" name="Shape 18"/>
          <p:cNvSpPr/>
          <p:nvPr/>
        </p:nvSpPr>
        <p:spPr>
          <a:xfrm>
            <a:off x="7474744" y="2068592"/>
            <a:ext cx="6511171" cy="418862"/>
          </a:xfrm>
          <a:prstGeom prst="roundRect">
            <a:avLst>
              <a:gd name="adj" fmla="val 10165"/>
            </a:avLst>
          </a:prstGeom>
          <a:solidFill>
            <a:srgbClr val="252528"/>
          </a:solidFill>
          <a:ln/>
        </p:spPr>
      </p:sp>
      <p:pic>
        <p:nvPicPr>
          <p:cNvPr id="21" name="Image 0" descr="preencoded.png">    </p:cNvPr>
          <p:cNvPicPr>
            <a:picLocks noChangeAspect="1"/>
          </p:cNvPicPr>
          <p:nvPr/>
        </p:nvPicPr>
        <p:blipFill>
          <a:blip r:embed="rId1"/>
          <a:stretch>
            <a:fillRect/>
          </a:stretch>
        </p:blipFill>
        <p:spPr>
          <a:xfrm>
            <a:off x="7576066" y="2197894"/>
            <a:ext cx="126683" cy="101322"/>
          </a:xfrm>
          <a:prstGeom prst="rect">
            <a:avLst/>
          </a:prstGeom>
        </p:spPr>
      </p:pic>
      <p:sp>
        <p:nvSpPr>
          <p:cNvPr id="22" name="Text 19"/>
          <p:cNvSpPr/>
          <p:nvPr/>
        </p:nvSpPr>
        <p:spPr>
          <a:xfrm>
            <a:off x="7804071" y="2145506"/>
            <a:ext cx="6080522" cy="244793"/>
          </a:xfrm>
          <a:prstGeom prst="rect">
            <a:avLst/>
          </a:prstGeom>
          <a:noFill/>
          <a:ln/>
        </p:spPr>
        <p:txBody>
          <a:bodyPr wrap="square" lIns="0" tIns="0" rIns="0" bIns="0" rtlCol="0" anchor="t"/>
          <a:lstStyle/>
          <a:p>
            <a:pPr algn="l" indent="0" marL="0">
              <a:lnSpc>
                <a:spcPts val="950"/>
              </a:lnSpc>
              <a:buNone/>
            </a:pPr>
            <a:r>
              <a:rPr lang="en-US" sz="750" dirty="0">
                <a:solidFill>
                  <a:srgbClr val="FFFFFF"/>
                </a:solidFill>
                <a:latin typeface="Roboto Light" pitchFamily="34" charset="0"/>
                <a:ea typeface="Roboto Light" pitchFamily="34" charset="-122"/>
                <a:cs typeface="Roboto Light" pitchFamily="34" charset="-120"/>
              </a:rPr>
              <a:t>All aggregation pipelines execute on the database server, minimizing data transfer and maximizing query performance — a key advantage of MongoDB's native aggregation framework.</a:t>
            </a:r>
            <a:endParaRPr lang="en-US" sz="750" dirty="0"/>
          </a:p>
        </p:txBody>
      </p:sp>
      <p:pic>
        <p:nvPicPr>
          <p:cNvPr id="23" name="Image 1" descr="preencoded.png">    </p:cNvPr>
          <p:cNvPicPr>
            <a:picLocks noChangeAspect="1"/>
          </p:cNvPicPr>
          <p:nvPr/>
        </p:nvPicPr>
        <p:blipFill>
          <a:blip r:embed="rId2"/>
          <a:stretch>
            <a:fillRect/>
          </a:stretch>
        </p:blipFill>
        <p:spPr>
          <a:xfrm>
            <a:off x="623768" y="2718911"/>
            <a:ext cx="8698825" cy="2742128"/>
          </a:xfrm>
          <a:prstGeom prst="rect">
            <a:avLst/>
          </a:prstGeom>
        </p:spPr>
      </p:pic>
      <p:sp>
        <p:nvSpPr>
          <p:cNvPr id="24" name="Text 20"/>
          <p:cNvSpPr/>
          <p:nvPr/>
        </p:nvSpPr>
        <p:spPr>
          <a:xfrm>
            <a:off x="623768" y="7648456"/>
            <a:ext cx="13382863" cy="122396"/>
          </a:xfrm>
          <a:prstGeom prst="rect">
            <a:avLst/>
          </a:prstGeom>
          <a:noFill/>
          <a:ln/>
        </p:spPr>
        <p:txBody>
          <a:bodyPr wrap="none" lIns="0" tIns="0" rIns="0" bIns="0" rtlCol="0" anchor="t"/>
          <a:lstStyle/>
          <a:p>
            <a:pPr algn="l" indent="0" marL="0">
              <a:lnSpc>
                <a:spcPts val="950"/>
              </a:lnSpc>
              <a:buNone/>
            </a:pPr>
            <a:r>
              <a:rPr lang="en-US" sz="750" dirty="0">
                <a:solidFill>
                  <a:srgbClr val="E5E0DF"/>
                </a:solidFill>
                <a:latin typeface="Roboto Light" pitchFamily="34" charset="0"/>
                <a:ea typeface="Roboto Light" pitchFamily="34" charset="-122"/>
                <a:cs typeface="Roboto Light" pitchFamily="34" charset="-120"/>
              </a:rPr>
              <a:t>Sample visualization of student average marks — the aggregation pipeline computes these values server-side and returns them ready for frontend rendering.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13542"/>
            <a:ext cx="4217551" cy="527090"/>
          </a:xfrm>
          <a:prstGeom prst="rect">
            <a:avLst/>
          </a:prstGeom>
          <a:noFill/>
          <a:ln/>
        </p:spPr>
        <p:txBody>
          <a:bodyPr wrap="none" lIns="0" tIns="0" rIns="0" bIns="0" rtlCol="0" anchor="t"/>
          <a:lstStyle/>
          <a:p>
            <a:pPr algn="l" indent="0" marL="0">
              <a:lnSpc>
                <a:spcPts val="4150"/>
              </a:lnSpc>
              <a:buNone/>
            </a:pPr>
            <a:r>
              <a:rPr lang="en-US" sz="3300" dirty="0">
                <a:solidFill>
                  <a:srgbClr val="F2F2F3"/>
                </a:solidFill>
                <a:latin typeface="Poppins Light" pitchFamily="34" charset="0"/>
                <a:ea typeface="Poppins Light" pitchFamily="34" charset="-122"/>
                <a:cs typeface="Poppins Light" pitchFamily="34" charset="-120"/>
              </a:rPr>
              <a:t>Frontend Overview</a:t>
            </a:r>
            <a:endParaRPr lang="en-US" sz="3300" dirty="0"/>
          </a:p>
        </p:txBody>
      </p:sp>
      <p:sp>
        <p:nvSpPr>
          <p:cNvPr id="3" name="Text 1"/>
          <p:cNvSpPr/>
          <p:nvPr/>
        </p:nvSpPr>
        <p:spPr>
          <a:xfrm>
            <a:off x="793790" y="1527334"/>
            <a:ext cx="13042821" cy="499348"/>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Roboto Light" pitchFamily="34" charset="0"/>
                <a:ea typeface="Roboto Light" pitchFamily="34" charset="-122"/>
                <a:cs typeface="Roboto Light" pitchFamily="34" charset="-120"/>
              </a:rPr>
              <a:t>The frontend is built with React, providing a dynamic, component-driven user interface that communicates with the backend via RESTful API calls. The UI is designed for clarity and ease of use, ensuring that academic data is accessible and visually intuitive for both students and administrators.</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2187893"/>
            <a:ext cx="421719" cy="421719"/>
          </a:xfrm>
          <a:prstGeom prst="rect">
            <a:avLst/>
          </a:prstGeom>
        </p:spPr>
      </p:pic>
      <p:sp>
        <p:nvSpPr>
          <p:cNvPr id="5" name="Text 2"/>
          <p:cNvSpPr/>
          <p:nvPr/>
        </p:nvSpPr>
        <p:spPr>
          <a:xfrm>
            <a:off x="793790" y="2788801"/>
            <a:ext cx="2108716" cy="263485"/>
          </a:xfrm>
          <a:prstGeom prst="rect">
            <a:avLst/>
          </a:prstGeom>
          <a:noFill/>
          <a:ln/>
        </p:spPr>
        <p:txBody>
          <a:bodyPr wrap="none" lIns="0" tIns="0" rIns="0" bIns="0" rtlCol="0" anchor="t"/>
          <a:lstStyle/>
          <a:p>
            <a:pPr algn="l" indent="0" marL="0">
              <a:lnSpc>
                <a:spcPts val="2050"/>
              </a:lnSpc>
              <a:buNone/>
            </a:pPr>
            <a:r>
              <a:rPr lang="en-US" sz="1650" dirty="0">
                <a:solidFill>
                  <a:srgbClr val="E5E0DF"/>
                </a:solidFill>
                <a:latin typeface="Poppins Light" pitchFamily="34" charset="0"/>
                <a:ea typeface="Poppins Light" pitchFamily="34" charset="-122"/>
                <a:cs typeface="Poppins Light" pitchFamily="34" charset="-120"/>
              </a:rPr>
              <a:t>Dashboard UI</a:t>
            </a:r>
            <a:endParaRPr lang="en-US" sz="1650" dirty="0"/>
          </a:p>
        </p:txBody>
      </p:sp>
      <p:sp>
        <p:nvSpPr>
          <p:cNvPr id="6" name="Text 3"/>
          <p:cNvSpPr/>
          <p:nvPr/>
        </p:nvSpPr>
        <p:spPr>
          <a:xfrm>
            <a:off x="793790" y="3138249"/>
            <a:ext cx="6431756" cy="749022"/>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Roboto Light" pitchFamily="34" charset="0"/>
                <a:ea typeface="Roboto Light" pitchFamily="34" charset="-122"/>
                <a:cs typeface="Roboto Light" pitchFamily="34" charset="-120"/>
              </a:rPr>
              <a:t>A centralized home screen displaying key performance indicators, recent activity, and quick navigation to student records, subject lists, and mark sheets. Built with reusable React components for consistency.</a:t>
            </a:r>
            <a:endParaRPr lang="en-US" sz="13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04735" y="2187893"/>
            <a:ext cx="421719" cy="421719"/>
          </a:xfrm>
          <a:prstGeom prst="rect">
            <a:avLst/>
          </a:prstGeom>
        </p:spPr>
      </p:pic>
      <p:sp>
        <p:nvSpPr>
          <p:cNvPr id="8" name="Text 4"/>
          <p:cNvSpPr/>
          <p:nvPr/>
        </p:nvSpPr>
        <p:spPr>
          <a:xfrm>
            <a:off x="7404735" y="2788801"/>
            <a:ext cx="2709386" cy="263485"/>
          </a:xfrm>
          <a:prstGeom prst="rect">
            <a:avLst/>
          </a:prstGeom>
          <a:noFill/>
          <a:ln/>
        </p:spPr>
        <p:txBody>
          <a:bodyPr wrap="none" lIns="0" tIns="0" rIns="0" bIns="0" rtlCol="0" anchor="t"/>
          <a:lstStyle/>
          <a:p>
            <a:pPr algn="l" indent="0" marL="0">
              <a:lnSpc>
                <a:spcPts val="2050"/>
              </a:lnSpc>
              <a:buNone/>
            </a:pPr>
            <a:r>
              <a:rPr lang="en-US" sz="1650" dirty="0">
                <a:solidFill>
                  <a:srgbClr val="E5E0DF"/>
                </a:solidFill>
                <a:latin typeface="Poppins Light" pitchFamily="34" charset="0"/>
                <a:ea typeface="Poppins Light" pitchFamily="34" charset="-122"/>
                <a:cs typeface="Poppins Light" pitchFamily="34" charset="-120"/>
              </a:rPr>
              <a:t>Performance Visualization</a:t>
            </a:r>
            <a:endParaRPr lang="en-US" sz="1650" dirty="0"/>
          </a:p>
        </p:txBody>
      </p:sp>
      <p:sp>
        <p:nvSpPr>
          <p:cNvPr id="9" name="Text 5"/>
          <p:cNvSpPr/>
          <p:nvPr/>
        </p:nvSpPr>
        <p:spPr>
          <a:xfrm>
            <a:off x="7404735" y="3138249"/>
            <a:ext cx="6431875" cy="749022"/>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Roboto Light" pitchFamily="34" charset="0"/>
                <a:ea typeface="Roboto Light" pitchFamily="34" charset="-122"/>
                <a:cs typeface="Roboto Light" pitchFamily="34" charset="-120"/>
              </a:rPr>
              <a:t>Interactive charts and graphs render student performance data in real time. Bar charts, leaderboards, and percentage gauges provide at-a-glance insights into academic trends.</a:t>
            </a:r>
            <a:endParaRPr lang="en-US" sz="13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4173974"/>
            <a:ext cx="421719" cy="421719"/>
          </a:xfrm>
          <a:prstGeom prst="rect">
            <a:avLst/>
          </a:prstGeom>
        </p:spPr>
      </p:pic>
      <p:sp>
        <p:nvSpPr>
          <p:cNvPr id="11" name="Text 6"/>
          <p:cNvSpPr/>
          <p:nvPr/>
        </p:nvSpPr>
        <p:spPr>
          <a:xfrm>
            <a:off x="793790" y="4774883"/>
            <a:ext cx="2108716" cy="263485"/>
          </a:xfrm>
          <a:prstGeom prst="rect">
            <a:avLst/>
          </a:prstGeom>
          <a:noFill/>
          <a:ln/>
        </p:spPr>
        <p:txBody>
          <a:bodyPr wrap="none" lIns="0" tIns="0" rIns="0" bIns="0" rtlCol="0" anchor="t"/>
          <a:lstStyle/>
          <a:p>
            <a:pPr algn="l" indent="0" marL="0">
              <a:lnSpc>
                <a:spcPts val="2050"/>
              </a:lnSpc>
              <a:buNone/>
            </a:pPr>
            <a:r>
              <a:rPr lang="en-US" sz="1650" dirty="0">
                <a:solidFill>
                  <a:srgbClr val="E5E0DF"/>
                </a:solidFill>
                <a:latin typeface="Poppins Light" pitchFamily="34" charset="0"/>
                <a:ea typeface="Poppins Light" pitchFamily="34" charset="-122"/>
                <a:cs typeface="Poppins Light" pitchFamily="34" charset="-120"/>
              </a:rPr>
              <a:t>Responsive Design</a:t>
            </a:r>
            <a:endParaRPr lang="en-US" sz="1650" dirty="0"/>
          </a:p>
        </p:txBody>
      </p:sp>
      <p:sp>
        <p:nvSpPr>
          <p:cNvPr id="12" name="Text 7"/>
          <p:cNvSpPr/>
          <p:nvPr/>
        </p:nvSpPr>
        <p:spPr>
          <a:xfrm>
            <a:off x="793790" y="5124331"/>
            <a:ext cx="6431756" cy="749022"/>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Roboto Light" pitchFamily="34" charset="0"/>
                <a:ea typeface="Roboto Light" pitchFamily="34" charset="-122"/>
                <a:cs typeface="Roboto Light" pitchFamily="34" charset="-120"/>
              </a:rPr>
              <a:t>The interface adapts seamlessly across desktop, tablet, and mobile viewports. CSS Grid and Flexbox ensure layout integrity regardless of screen size, supporting accessibility standards.</a:t>
            </a:r>
            <a:endParaRPr lang="en-US" sz="13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04735" y="4173974"/>
            <a:ext cx="421719" cy="421719"/>
          </a:xfrm>
          <a:prstGeom prst="rect">
            <a:avLst/>
          </a:prstGeom>
        </p:spPr>
      </p:pic>
      <p:sp>
        <p:nvSpPr>
          <p:cNvPr id="14" name="Text 8"/>
          <p:cNvSpPr/>
          <p:nvPr/>
        </p:nvSpPr>
        <p:spPr>
          <a:xfrm>
            <a:off x="7404735" y="4774883"/>
            <a:ext cx="2108716" cy="263485"/>
          </a:xfrm>
          <a:prstGeom prst="rect">
            <a:avLst/>
          </a:prstGeom>
          <a:noFill/>
          <a:ln/>
        </p:spPr>
        <p:txBody>
          <a:bodyPr wrap="none" lIns="0" tIns="0" rIns="0" bIns="0" rtlCol="0" anchor="t"/>
          <a:lstStyle/>
          <a:p>
            <a:pPr algn="l" indent="0" marL="0">
              <a:lnSpc>
                <a:spcPts val="2050"/>
              </a:lnSpc>
              <a:buNone/>
            </a:pPr>
            <a:r>
              <a:rPr lang="en-US" sz="1650" dirty="0">
                <a:solidFill>
                  <a:srgbClr val="E5E0DF"/>
                </a:solidFill>
                <a:latin typeface="Poppins Light" pitchFamily="34" charset="0"/>
                <a:ea typeface="Poppins Light" pitchFamily="34" charset="-122"/>
                <a:cs typeface="Poppins Light" pitchFamily="34" charset="-120"/>
              </a:rPr>
              <a:t>Intuitive Navigation</a:t>
            </a:r>
            <a:endParaRPr lang="en-US" sz="1650" dirty="0"/>
          </a:p>
        </p:txBody>
      </p:sp>
      <p:sp>
        <p:nvSpPr>
          <p:cNvPr id="15" name="Text 9"/>
          <p:cNvSpPr/>
          <p:nvPr/>
        </p:nvSpPr>
        <p:spPr>
          <a:xfrm>
            <a:off x="7404735" y="5124331"/>
            <a:ext cx="6431875" cy="749022"/>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Roboto Light" pitchFamily="34" charset="0"/>
                <a:ea typeface="Roboto Light" pitchFamily="34" charset="-122"/>
                <a:cs typeface="Roboto Light" pitchFamily="34" charset="-120"/>
              </a:rPr>
              <a:t>A minimal navigation structure with clear routes — Students, Subjects, Marks, Analytics — reduces cognitive load. Breadcrumbs and active-state indicators help users orient themselves within the app.</a:t>
            </a:r>
            <a:endParaRPr lang="en-US" sz="1300" dirty="0"/>
          </a:p>
        </p:txBody>
      </p:sp>
      <p:sp>
        <p:nvSpPr>
          <p:cNvPr id="16" name="Shape 10"/>
          <p:cNvSpPr/>
          <p:nvPr/>
        </p:nvSpPr>
        <p:spPr>
          <a:xfrm>
            <a:off x="793790" y="6034564"/>
            <a:ext cx="3153132" cy="1481376"/>
          </a:xfrm>
          <a:prstGeom prst="roundRect">
            <a:avLst>
              <a:gd name="adj" fmla="val 4783"/>
            </a:avLst>
          </a:prstGeom>
          <a:solidFill>
            <a:srgbClr val="050505"/>
          </a:solidFill>
          <a:ln w="22860">
            <a:solidFill>
              <a:srgbClr val="56565B"/>
            </a:solidFill>
            <a:prstDash val="solid"/>
          </a:ln>
        </p:spPr>
      </p:sp>
      <p:sp>
        <p:nvSpPr>
          <p:cNvPr id="17" name="Text 11"/>
          <p:cNvSpPr/>
          <p:nvPr/>
        </p:nvSpPr>
        <p:spPr>
          <a:xfrm>
            <a:off x="985242" y="6226016"/>
            <a:ext cx="2108716" cy="263485"/>
          </a:xfrm>
          <a:prstGeom prst="rect">
            <a:avLst/>
          </a:prstGeom>
          <a:noFill/>
          <a:ln/>
        </p:spPr>
        <p:txBody>
          <a:bodyPr wrap="none" lIns="0" tIns="0" rIns="0" bIns="0" rtlCol="0" anchor="t"/>
          <a:lstStyle/>
          <a:p>
            <a:pPr algn="l" indent="0" marL="0">
              <a:lnSpc>
                <a:spcPts val="2050"/>
              </a:lnSpc>
              <a:buNone/>
            </a:pPr>
            <a:r>
              <a:rPr lang="en-US" sz="1650" dirty="0">
                <a:solidFill>
                  <a:srgbClr val="E5E0DF"/>
                </a:solidFill>
                <a:latin typeface="Poppins Light" pitchFamily="34" charset="0"/>
                <a:ea typeface="Poppins Light" pitchFamily="34" charset="-122"/>
                <a:cs typeface="Poppins Light" pitchFamily="34" charset="-120"/>
              </a:rPr>
              <a:t>React</a:t>
            </a:r>
            <a:endParaRPr lang="en-US" sz="1650" dirty="0"/>
          </a:p>
        </p:txBody>
      </p:sp>
      <p:sp>
        <p:nvSpPr>
          <p:cNvPr id="18" name="Text 12"/>
          <p:cNvSpPr/>
          <p:nvPr/>
        </p:nvSpPr>
        <p:spPr>
          <a:xfrm>
            <a:off x="985242" y="6575465"/>
            <a:ext cx="2770227" cy="499348"/>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Roboto Light" pitchFamily="34" charset="0"/>
                <a:ea typeface="Roboto Light" pitchFamily="34" charset="-122"/>
                <a:cs typeface="Roboto Light" pitchFamily="34" charset="-120"/>
              </a:rPr>
              <a:t>Component-based UI library enabling modular, reusable interface elements.</a:t>
            </a:r>
            <a:endParaRPr lang="en-US" sz="1300" dirty="0"/>
          </a:p>
        </p:txBody>
      </p:sp>
      <p:sp>
        <p:nvSpPr>
          <p:cNvPr id="19" name="Shape 13"/>
          <p:cNvSpPr/>
          <p:nvPr/>
        </p:nvSpPr>
        <p:spPr>
          <a:xfrm>
            <a:off x="4090273" y="6034564"/>
            <a:ext cx="3153251" cy="1481376"/>
          </a:xfrm>
          <a:prstGeom prst="roundRect">
            <a:avLst>
              <a:gd name="adj" fmla="val 4783"/>
            </a:avLst>
          </a:prstGeom>
          <a:solidFill>
            <a:srgbClr val="050505"/>
          </a:solidFill>
          <a:ln w="22860">
            <a:solidFill>
              <a:srgbClr val="56565B"/>
            </a:solidFill>
            <a:prstDash val="solid"/>
          </a:ln>
        </p:spPr>
      </p:sp>
      <p:sp>
        <p:nvSpPr>
          <p:cNvPr id="20" name="Text 14"/>
          <p:cNvSpPr/>
          <p:nvPr/>
        </p:nvSpPr>
        <p:spPr>
          <a:xfrm>
            <a:off x="4281726" y="6226016"/>
            <a:ext cx="2108716" cy="263485"/>
          </a:xfrm>
          <a:prstGeom prst="rect">
            <a:avLst/>
          </a:prstGeom>
          <a:noFill/>
          <a:ln/>
        </p:spPr>
        <p:txBody>
          <a:bodyPr wrap="none" lIns="0" tIns="0" rIns="0" bIns="0" rtlCol="0" anchor="t"/>
          <a:lstStyle/>
          <a:p>
            <a:pPr algn="l" indent="0" marL="0">
              <a:lnSpc>
                <a:spcPts val="2050"/>
              </a:lnSpc>
              <a:buNone/>
            </a:pPr>
            <a:r>
              <a:rPr lang="en-US" sz="1650" dirty="0">
                <a:solidFill>
                  <a:srgbClr val="E5E0DF"/>
                </a:solidFill>
                <a:latin typeface="Poppins Light" pitchFamily="34" charset="0"/>
                <a:ea typeface="Poppins Light" pitchFamily="34" charset="-122"/>
                <a:cs typeface="Poppins Light" pitchFamily="34" charset="-120"/>
              </a:rPr>
              <a:t>Axios / Fetch API</a:t>
            </a:r>
            <a:endParaRPr lang="en-US" sz="1650" dirty="0"/>
          </a:p>
        </p:txBody>
      </p:sp>
      <p:sp>
        <p:nvSpPr>
          <p:cNvPr id="21" name="Text 15"/>
          <p:cNvSpPr/>
          <p:nvPr/>
        </p:nvSpPr>
        <p:spPr>
          <a:xfrm>
            <a:off x="4281726" y="6575465"/>
            <a:ext cx="2770346" cy="749022"/>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Roboto Light" pitchFamily="34" charset="0"/>
                <a:ea typeface="Roboto Light" pitchFamily="34" charset="-122"/>
                <a:cs typeface="Roboto Light" pitchFamily="34" charset="-120"/>
              </a:rPr>
              <a:t>HTTP client for seamless communication with backend RESTful endpoints.</a:t>
            </a:r>
            <a:endParaRPr lang="en-US" sz="1300" dirty="0"/>
          </a:p>
        </p:txBody>
      </p:sp>
      <p:sp>
        <p:nvSpPr>
          <p:cNvPr id="22" name="Shape 16"/>
          <p:cNvSpPr/>
          <p:nvPr/>
        </p:nvSpPr>
        <p:spPr>
          <a:xfrm>
            <a:off x="7386876" y="6034564"/>
            <a:ext cx="3153132" cy="1481376"/>
          </a:xfrm>
          <a:prstGeom prst="roundRect">
            <a:avLst>
              <a:gd name="adj" fmla="val 4783"/>
            </a:avLst>
          </a:prstGeom>
          <a:solidFill>
            <a:srgbClr val="050505"/>
          </a:solidFill>
          <a:ln w="22860">
            <a:solidFill>
              <a:srgbClr val="56565B"/>
            </a:solidFill>
            <a:prstDash val="solid"/>
          </a:ln>
        </p:spPr>
      </p:sp>
      <p:sp>
        <p:nvSpPr>
          <p:cNvPr id="23" name="Text 17"/>
          <p:cNvSpPr/>
          <p:nvPr/>
        </p:nvSpPr>
        <p:spPr>
          <a:xfrm>
            <a:off x="7578328" y="6226016"/>
            <a:ext cx="2108716" cy="263485"/>
          </a:xfrm>
          <a:prstGeom prst="rect">
            <a:avLst/>
          </a:prstGeom>
          <a:noFill/>
          <a:ln/>
        </p:spPr>
        <p:txBody>
          <a:bodyPr wrap="none" lIns="0" tIns="0" rIns="0" bIns="0" rtlCol="0" anchor="t"/>
          <a:lstStyle/>
          <a:p>
            <a:pPr algn="l" indent="0" marL="0">
              <a:lnSpc>
                <a:spcPts val="2050"/>
              </a:lnSpc>
              <a:buNone/>
            </a:pPr>
            <a:r>
              <a:rPr lang="en-US" sz="1650" dirty="0">
                <a:solidFill>
                  <a:srgbClr val="E5E0DF"/>
                </a:solidFill>
                <a:latin typeface="Poppins Light" pitchFamily="34" charset="0"/>
                <a:ea typeface="Poppins Light" pitchFamily="34" charset="-122"/>
                <a:cs typeface="Poppins Light" pitchFamily="34" charset="-120"/>
              </a:rPr>
              <a:t>Chart Library</a:t>
            </a:r>
            <a:endParaRPr lang="en-US" sz="1650" dirty="0"/>
          </a:p>
        </p:txBody>
      </p:sp>
      <p:sp>
        <p:nvSpPr>
          <p:cNvPr id="24" name="Text 18"/>
          <p:cNvSpPr/>
          <p:nvPr/>
        </p:nvSpPr>
        <p:spPr>
          <a:xfrm>
            <a:off x="7578328" y="6575465"/>
            <a:ext cx="2770227" cy="749022"/>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Roboto Light" pitchFamily="34" charset="0"/>
                <a:ea typeface="Roboto Light" pitchFamily="34" charset="-122"/>
                <a:cs typeface="Roboto Light" pitchFamily="34" charset="-120"/>
              </a:rPr>
              <a:t>Lightweight visualization library (e.g., Recharts or Chart.js) for rendering analytics.</a:t>
            </a:r>
            <a:endParaRPr lang="en-US" sz="1300" dirty="0"/>
          </a:p>
        </p:txBody>
      </p:sp>
      <p:sp>
        <p:nvSpPr>
          <p:cNvPr id="25" name="Shape 19"/>
          <p:cNvSpPr/>
          <p:nvPr/>
        </p:nvSpPr>
        <p:spPr>
          <a:xfrm>
            <a:off x="10683359" y="6034564"/>
            <a:ext cx="3153251" cy="1481376"/>
          </a:xfrm>
          <a:prstGeom prst="roundRect">
            <a:avLst>
              <a:gd name="adj" fmla="val 4783"/>
            </a:avLst>
          </a:prstGeom>
          <a:solidFill>
            <a:srgbClr val="050505"/>
          </a:solidFill>
          <a:ln w="22860">
            <a:solidFill>
              <a:srgbClr val="56565B"/>
            </a:solidFill>
            <a:prstDash val="solid"/>
          </a:ln>
        </p:spPr>
      </p:sp>
      <p:sp>
        <p:nvSpPr>
          <p:cNvPr id="26" name="Text 20"/>
          <p:cNvSpPr/>
          <p:nvPr/>
        </p:nvSpPr>
        <p:spPr>
          <a:xfrm>
            <a:off x="10874812" y="6226016"/>
            <a:ext cx="2672834" cy="263485"/>
          </a:xfrm>
          <a:prstGeom prst="rect">
            <a:avLst/>
          </a:prstGeom>
          <a:noFill/>
          <a:ln/>
        </p:spPr>
        <p:txBody>
          <a:bodyPr wrap="none" lIns="0" tIns="0" rIns="0" bIns="0" rtlCol="0" anchor="t"/>
          <a:lstStyle/>
          <a:p>
            <a:pPr algn="l" indent="0" marL="0">
              <a:lnSpc>
                <a:spcPts val="2050"/>
              </a:lnSpc>
              <a:buNone/>
            </a:pPr>
            <a:r>
              <a:rPr lang="en-US" sz="1650" dirty="0">
                <a:solidFill>
                  <a:srgbClr val="E5E0DF"/>
                </a:solidFill>
                <a:latin typeface="Poppins Light" pitchFamily="34" charset="0"/>
                <a:ea typeface="Poppins Light" pitchFamily="34" charset="-122"/>
                <a:cs typeface="Poppins Light" pitchFamily="34" charset="-120"/>
              </a:rPr>
              <a:t>CSS / Styled Components</a:t>
            </a:r>
            <a:endParaRPr lang="en-US" sz="1650" dirty="0"/>
          </a:p>
        </p:txBody>
      </p:sp>
      <p:sp>
        <p:nvSpPr>
          <p:cNvPr id="27" name="Text 21"/>
          <p:cNvSpPr/>
          <p:nvPr/>
        </p:nvSpPr>
        <p:spPr>
          <a:xfrm>
            <a:off x="10874812" y="6575465"/>
            <a:ext cx="2770346" cy="499348"/>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Roboto Light" pitchFamily="34" charset="0"/>
                <a:ea typeface="Roboto Light" pitchFamily="34" charset="-122"/>
                <a:cs typeface="Roboto Light" pitchFamily="34" charset="-120"/>
              </a:rPr>
              <a:t>Modern styling approach ensuring consistent, maintainable UI design.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15208"/>
            <a:ext cx="6597848" cy="589121"/>
          </a:xfrm>
          <a:prstGeom prst="rect">
            <a:avLst/>
          </a:prstGeom>
          <a:noFill/>
          <a:ln/>
        </p:spPr>
        <p:txBody>
          <a:bodyPr wrap="none" lIns="0" tIns="0" rIns="0" bIns="0" rtlCol="0" anchor="t"/>
          <a:lstStyle/>
          <a:p>
            <a:pPr algn="l" indent="0" marL="0">
              <a:lnSpc>
                <a:spcPts val="4600"/>
              </a:lnSpc>
              <a:buNone/>
            </a:pPr>
            <a:r>
              <a:rPr lang="en-US" sz="3700" dirty="0">
                <a:solidFill>
                  <a:srgbClr val="F2F2F3"/>
                </a:solidFill>
                <a:latin typeface="Poppins Light" pitchFamily="34" charset="0"/>
                <a:ea typeface="Poppins Light" pitchFamily="34" charset="-122"/>
                <a:cs typeface="Poppins Light" pitchFamily="34" charset="-120"/>
              </a:rPr>
              <a:t>Conclusion &amp; Key Outcomes</a:t>
            </a:r>
            <a:endParaRPr lang="en-US" sz="3700" dirty="0"/>
          </a:p>
        </p:txBody>
      </p:sp>
      <p:sp>
        <p:nvSpPr>
          <p:cNvPr id="3" name="Text 1"/>
          <p:cNvSpPr/>
          <p:nvPr/>
        </p:nvSpPr>
        <p:spPr>
          <a:xfrm>
            <a:off x="793790" y="1662470"/>
            <a:ext cx="13042821" cy="882610"/>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Roboto Light" pitchFamily="34" charset="0"/>
                <a:ea typeface="Roboto Light" pitchFamily="34" charset="-122"/>
                <a:cs typeface="Roboto Light" pitchFamily="34" charset="-120"/>
              </a:rPr>
              <a:t>The </a:t>
            </a:r>
            <a:pPr algn="l" indent="0" marL="0">
              <a:lnSpc>
                <a:spcPts val="2300"/>
              </a:lnSpc>
              <a:buNone/>
            </a:pPr>
            <a:r>
              <a:rPr lang="en-US" sz="1450" b="1" dirty="0">
                <a:solidFill>
                  <a:srgbClr val="E5E0DF"/>
                </a:solidFill>
                <a:latin typeface="Roboto Light" pitchFamily="34" charset="0"/>
                <a:ea typeface="Roboto Light" pitchFamily="34" charset="-122"/>
                <a:cs typeface="Roboto Light" pitchFamily="34" charset="-120"/>
              </a:rPr>
              <a:t>Student Performance Analytics System</a:t>
            </a:r>
            <a:pPr algn="l" indent="0" marL="0">
              <a:lnSpc>
                <a:spcPts val="2300"/>
              </a:lnSpc>
              <a:buNone/>
            </a:pPr>
            <a:r>
              <a:rPr lang="en-US" sz="1450" dirty="0">
                <a:solidFill>
                  <a:srgbClr val="E5E0DF"/>
                </a:solidFill>
                <a:latin typeface="Roboto Light" pitchFamily="34" charset="0"/>
                <a:ea typeface="Roboto Light" pitchFamily="34" charset="-122"/>
                <a:cs typeface="Roboto Light" pitchFamily="34" charset="-120"/>
              </a:rPr>
              <a:t> successfully demonstrates a full-stack approach to academic data management — from structured NoSQL data modeling to real-time analytical insights and a polished user interface. The project meets all core requirements of the Unstructured Database course while delivering a production-ready architecture.</a:t>
            </a:r>
            <a:endParaRPr lang="en-US" sz="1450" dirty="0"/>
          </a:p>
        </p:txBody>
      </p:sp>
      <p:sp>
        <p:nvSpPr>
          <p:cNvPr id="4" name="Shape 2"/>
          <p:cNvSpPr/>
          <p:nvPr/>
        </p:nvSpPr>
        <p:spPr>
          <a:xfrm>
            <a:off x="793790" y="2746534"/>
            <a:ext cx="4228148" cy="3009900"/>
          </a:xfrm>
          <a:prstGeom prst="roundRect">
            <a:avLst>
              <a:gd name="adj" fmla="val 2631"/>
            </a:avLst>
          </a:prstGeom>
          <a:solidFill>
            <a:srgbClr val="3D3D42"/>
          </a:solidFill>
          <a:ln w="7620">
            <a:solidFill>
              <a:srgbClr val="56565B"/>
            </a:solidFill>
            <a:prstDash val="solid"/>
          </a:ln>
        </p:spPr>
      </p:sp>
      <p:sp>
        <p:nvSpPr>
          <p:cNvPr id="5" name="Shape 3"/>
          <p:cNvSpPr/>
          <p:nvPr/>
        </p:nvSpPr>
        <p:spPr>
          <a:xfrm>
            <a:off x="989886" y="2942630"/>
            <a:ext cx="565547" cy="565547"/>
          </a:xfrm>
          <a:prstGeom prst="roundRect">
            <a:avLst>
              <a:gd name="adj" fmla="val 16166801"/>
            </a:avLst>
          </a:prstGeom>
          <a:solidFill>
            <a:srgbClr val="F2F2F3"/>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5381" y="3098125"/>
            <a:ext cx="254437" cy="254437"/>
          </a:xfrm>
          <a:prstGeom prst="rect">
            <a:avLst/>
          </a:prstGeom>
        </p:spPr>
      </p:pic>
      <p:sp>
        <p:nvSpPr>
          <p:cNvPr id="7" name="Text 4"/>
          <p:cNvSpPr/>
          <p:nvPr/>
        </p:nvSpPr>
        <p:spPr>
          <a:xfrm>
            <a:off x="989886" y="3687247"/>
            <a:ext cx="3192780" cy="294680"/>
          </a:xfrm>
          <a:prstGeom prst="rect">
            <a:avLst/>
          </a:prstGeom>
          <a:noFill/>
          <a:ln/>
        </p:spPr>
        <p:txBody>
          <a:bodyPr wrap="none" lIns="0" tIns="0" rIns="0" bIns="0" rtlCol="0" anchor="t"/>
          <a:lstStyle/>
          <a:p>
            <a:pPr algn="l" indent="0" marL="0">
              <a:lnSpc>
                <a:spcPts val="2300"/>
              </a:lnSpc>
              <a:buNone/>
            </a:pPr>
            <a:r>
              <a:rPr lang="en-US" sz="1850" dirty="0">
                <a:solidFill>
                  <a:srgbClr val="E5E0DF"/>
                </a:solidFill>
                <a:latin typeface="Poppins Light" pitchFamily="34" charset="0"/>
                <a:ea typeface="Poppins Light" pitchFamily="34" charset="-122"/>
                <a:cs typeface="Poppins Light" pitchFamily="34" charset="-120"/>
              </a:rPr>
              <a:t>Efficient Data Management</a:t>
            </a:r>
            <a:endParaRPr lang="en-US" sz="1850" dirty="0"/>
          </a:p>
        </p:txBody>
      </p:sp>
      <p:sp>
        <p:nvSpPr>
          <p:cNvPr id="8" name="Text 5"/>
          <p:cNvSpPr/>
          <p:nvPr/>
        </p:nvSpPr>
        <p:spPr>
          <a:xfrm>
            <a:off x="989886" y="4089321"/>
            <a:ext cx="3835956" cy="1176814"/>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Roboto Light" pitchFamily="34" charset="0"/>
                <a:ea typeface="Roboto Light" pitchFamily="34" charset="-122"/>
                <a:cs typeface="Roboto Light" pitchFamily="34" charset="-120"/>
              </a:rPr>
              <a:t>MongoDB collections and Mongoose schemas provide a clean, validated structure for storing and retrieving student, subject, and mark records with full CRUD support.</a:t>
            </a:r>
            <a:endParaRPr lang="en-US" sz="1450" dirty="0"/>
          </a:p>
        </p:txBody>
      </p:sp>
      <p:sp>
        <p:nvSpPr>
          <p:cNvPr id="9" name="Shape 6"/>
          <p:cNvSpPr/>
          <p:nvPr/>
        </p:nvSpPr>
        <p:spPr>
          <a:xfrm>
            <a:off x="5201007" y="2746534"/>
            <a:ext cx="4228267" cy="3009900"/>
          </a:xfrm>
          <a:prstGeom prst="roundRect">
            <a:avLst>
              <a:gd name="adj" fmla="val 2631"/>
            </a:avLst>
          </a:prstGeom>
          <a:solidFill>
            <a:srgbClr val="3D3D42"/>
          </a:solidFill>
          <a:ln w="7620">
            <a:solidFill>
              <a:srgbClr val="56565B"/>
            </a:solidFill>
            <a:prstDash val="solid"/>
          </a:ln>
        </p:spPr>
      </p:sp>
      <p:sp>
        <p:nvSpPr>
          <p:cNvPr id="10" name="Shape 7"/>
          <p:cNvSpPr/>
          <p:nvPr/>
        </p:nvSpPr>
        <p:spPr>
          <a:xfrm>
            <a:off x="5397103" y="2942630"/>
            <a:ext cx="565547" cy="565547"/>
          </a:xfrm>
          <a:prstGeom prst="roundRect">
            <a:avLst>
              <a:gd name="adj" fmla="val 16166801"/>
            </a:avLst>
          </a:prstGeom>
          <a:solidFill>
            <a:srgbClr val="F2F2F3"/>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52599" y="3098125"/>
            <a:ext cx="254437" cy="254437"/>
          </a:xfrm>
          <a:prstGeom prst="rect">
            <a:avLst/>
          </a:prstGeom>
        </p:spPr>
      </p:pic>
      <p:sp>
        <p:nvSpPr>
          <p:cNvPr id="12" name="Text 8"/>
          <p:cNvSpPr/>
          <p:nvPr/>
        </p:nvSpPr>
        <p:spPr>
          <a:xfrm>
            <a:off x="5397103" y="3687247"/>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E5E0DF"/>
                </a:solidFill>
                <a:latin typeface="Poppins Light" pitchFamily="34" charset="0"/>
                <a:ea typeface="Poppins Light" pitchFamily="34" charset="-122"/>
                <a:cs typeface="Poppins Light" pitchFamily="34" charset="-120"/>
              </a:rPr>
              <a:t>Real-Time Analytics</a:t>
            </a:r>
            <a:endParaRPr lang="en-US" sz="1850" dirty="0"/>
          </a:p>
        </p:txBody>
      </p:sp>
      <p:sp>
        <p:nvSpPr>
          <p:cNvPr id="13" name="Text 9"/>
          <p:cNvSpPr/>
          <p:nvPr/>
        </p:nvSpPr>
        <p:spPr>
          <a:xfrm>
            <a:off x="5397103" y="4089321"/>
            <a:ext cx="3836075" cy="1471017"/>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Roboto Light" pitchFamily="34" charset="0"/>
                <a:ea typeface="Roboto Light" pitchFamily="34" charset="-122"/>
                <a:cs typeface="Roboto Light" pitchFamily="34" charset="-120"/>
              </a:rPr>
              <a:t>MongoDB's Aggregation Framework delivers instant insights — average scores, top performers, and high-achiever filters — computed server-side for optimal performance.</a:t>
            </a:r>
            <a:endParaRPr lang="en-US" sz="1450" dirty="0"/>
          </a:p>
        </p:txBody>
      </p:sp>
      <p:sp>
        <p:nvSpPr>
          <p:cNvPr id="14" name="Shape 10"/>
          <p:cNvSpPr/>
          <p:nvPr/>
        </p:nvSpPr>
        <p:spPr>
          <a:xfrm>
            <a:off x="9608344" y="2746534"/>
            <a:ext cx="4228148" cy="3009900"/>
          </a:xfrm>
          <a:prstGeom prst="roundRect">
            <a:avLst>
              <a:gd name="adj" fmla="val 2631"/>
            </a:avLst>
          </a:prstGeom>
          <a:solidFill>
            <a:srgbClr val="3D3D42"/>
          </a:solidFill>
          <a:ln w="7620">
            <a:solidFill>
              <a:srgbClr val="56565B"/>
            </a:solidFill>
            <a:prstDash val="solid"/>
          </a:ln>
        </p:spPr>
      </p:sp>
      <p:sp>
        <p:nvSpPr>
          <p:cNvPr id="15" name="Shape 11"/>
          <p:cNvSpPr/>
          <p:nvPr/>
        </p:nvSpPr>
        <p:spPr>
          <a:xfrm>
            <a:off x="9804440" y="2942630"/>
            <a:ext cx="565547" cy="565547"/>
          </a:xfrm>
          <a:prstGeom prst="roundRect">
            <a:avLst>
              <a:gd name="adj" fmla="val 16166801"/>
            </a:avLst>
          </a:prstGeom>
          <a:solidFill>
            <a:srgbClr val="F2F2F3"/>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59935" y="3098125"/>
            <a:ext cx="254437" cy="254437"/>
          </a:xfrm>
          <a:prstGeom prst="rect">
            <a:avLst/>
          </a:prstGeom>
        </p:spPr>
      </p:pic>
      <p:sp>
        <p:nvSpPr>
          <p:cNvPr id="17" name="Text 12"/>
          <p:cNvSpPr/>
          <p:nvPr/>
        </p:nvSpPr>
        <p:spPr>
          <a:xfrm>
            <a:off x="9804440" y="3687247"/>
            <a:ext cx="2789873" cy="294680"/>
          </a:xfrm>
          <a:prstGeom prst="rect">
            <a:avLst/>
          </a:prstGeom>
          <a:noFill/>
          <a:ln/>
        </p:spPr>
        <p:txBody>
          <a:bodyPr wrap="none" lIns="0" tIns="0" rIns="0" bIns="0" rtlCol="0" anchor="t"/>
          <a:lstStyle/>
          <a:p>
            <a:pPr algn="l" indent="0" marL="0">
              <a:lnSpc>
                <a:spcPts val="2300"/>
              </a:lnSpc>
              <a:buNone/>
            </a:pPr>
            <a:r>
              <a:rPr lang="en-US" sz="1850" dirty="0">
                <a:solidFill>
                  <a:srgbClr val="E5E0DF"/>
                </a:solidFill>
                <a:latin typeface="Poppins Light" pitchFamily="34" charset="0"/>
                <a:ea typeface="Poppins Light" pitchFamily="34" charset="-122"/>
                <a:cs typeface="Poppins Light" pitchFamily="34" charset="-120"/>
              </a:rPr>
              <a:t>Scalable System Design</a:t>
            </a:r>
            <a:endParaRPr lang="en-US" sz="1850" dirty="0"/>
          </a:p>
        </p:txBody>
      </p:sp>
      <p:sp>
        <p:nvSpPr>
          <p:cNvPr id="18" name="Text 13"/>
          <p:cNvSpPr/>
          <p:nvPr/>
        </p:nvSpPr>
        <p:spPr>
          <a:xfrm>
            <a:off x="9804440" y="4089321"/>
            <a:ext cx="3835956" cy="1471017"/>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Roboto Light" pitchFamily="34" charset="0"/>
                <a:ea typeface="Roboto Light" pitchFamily="34" charset="-122"/>
                <a:cs typeface="Roboto Light" pitchFamily="34" charset="-120"/>
              </a:rPr>
              <a:t>The modular MVC backend and component-based React frontend are designed to scale. New features — authentication, reporting, notifications — can be integrated without restructuring existing code.</a:t>
            </a:r>
            <a:endParaRPr lang="en-US" sz="1450" dirty="0"/>
          </a:p>
        </p:txBody>
      </p:sp>
      <p:sp>
        <p:nvSpPr>
          <p:cNvPr id="19" name="Text 14"/>
          <p:cNvSpPr/>
          <p:nvPr/>
        </p:nvSpPr>
        <p:spPr>
          <a:xfrm>
            <a:off x="1076563" y="6159341"/>
            <a:ext cx="12760047" cy="588407"/>
          </a:xfrm>
          <a:prstGeom prst="rect">
            <a:avLst/>
          </a:prstGeom>
          <a:noFill/>
          <a:ln/>
        </p:spPr>
        <p:txBody>
          <a:bodyPr wrap="square" lIns="0" tIns="0" rIns="0" bIns="0" rtlCol="0" anchor="t"/>
          <a:lstStyle/>
          <a:p>
            <a:pPr algn="l" indent="0" marL="0">
              <a:lnSpc>
                <a:spcPts val="2300"/>
              </a:lnSpc>
              <a:buNone/>
            </a:pPr>
            <a:r>
              <a:rPr lang="en-US" sz="1450" b="1" dirty="0">
                <a:solidFill>
                  <a:srgbClr val="E5E0DF"/>
                </a:solidFill>
                <a:latin typeface="Roboto Light" pitchFamily="34" charset="0"/>
                <a:ea typeface="Roboto Light" pitchFamily="34" charset="-122"/>
                <a:cs typeface="Roboto Light" pitchFamily="34" charset="-120"/>
              </a:rPr>
              <a:t>Thank You</a:t>
            </a:r>
            <a:pPr algn="l" indent="0" marL="0">
              <a:lnSpc>
                <a:spcPts val="2300"/>
              </a:lnSpc>
              <a:buNone/>
            </a:pPr>
            <a:r>
              <a:rPr lang="en-US" sz="1450" dirty="0">
                <a:solidFill>
                  <a:srgbClr val="E5E0DF"/>
                </a:solidFill>
                <a:latin typeface="Roboto Light" pitchFamily="34" charset="0"/>
                <a:ea typeface="Roboto Light" pitchFamily="34" charset="-122"/>
                <a:cs typeface="Roboto Light" pitchFamily="34" charset="-120"/>
              </a:rPr>
              <a:t> — We appreciate your time and attention. This project reflects our team's understanding of unstructured database systems, RESTful API design, and full-stack development principles. We welcome any questions or feedback.</a:t>
            </a:r>
            <a:endParaRPr lang="en-US" sz="1450" dirty="0"/>
          </a:p>
        </p:txBody>
      </p:sp>
      <p:sp>
        <p:nvSpPr>
          <p:cNvPr id="20" name="Shape 15"/>
          <p:cNvSpPr/>
          <p:nvPr/>
        </p:nvSpPr>
        <p:spPr>
          <a:xfrm>
            <a:off x="793790" y="5957887"/>
            <a:ext cx="22860" cy="991314"/>
          </a:xfrm>
          <a:prstGeom prst="rect">
            <a:avLst/>
          </a:prstGeom>
          <a:solidFill>
            <a:srgbClr val="F2F2F3"/>
          </a:solidFill>
          <a:ln/>
        </p:spPr>
      </p:sp>
      <p:sp>
        <p:nvSpPr>
          <p:cNvPr id="21" name="Shape 16"/>
          <p:cNvSpPr/>
          <p:nvPr/>
        </p:nvSpPr>
        <p:spPr>
          <a:xfrm>
            <a:off x="793790" y="7150656"/>
            <a:ext cx="1709023" cy="363617"/>
          </a:xfrm>
          <a:prstGeom prst="roundRect">
            <a:avLst>
              <a:gd name="adj" fmla="val 17423"/>
            </a:avLst>
          </a:prstGeom>
          <a:noFill/>
          <a:ln w="7620">
            <a:solidFill>
              <a:srgbClr val="F2F2F3"/>
            </a:solidFill>
            <a:prstDash val="solid"/>
          </a:ln>
        </p:spPr>
      </p:sp>
      <p:sp>
        <p:nvSpPr>
          <p:cNvPr id="22" name="Text 17"/>
          <p:cNvSpPr/>
          <p:nvPr/>
        </p:nvSpPr>
        <p:spPr>
          <a:xfrm>
            <a:off x="914519" y="7214830"/>
            <a:ext cx="1467564" cy="235268"/>
          </a:xfrm>
          <a:prstGeom prst="rect">
            <a:avLst/>
          </a:prstGeom>
          <a:noFill/>
          <a:ln/>
        </p:spPr>
        <p:txBody>
          <a:bodyPr wrap="none" lIns="0" tIns="0" rIns="0" bIns="0" rtlCol="0" anchor="t"/>
          <a:lstStyle/>
          <a:p>
            <a:pPr algn="l" indent="0" marL="0">
              <a:lnSpc>
                <a:spcPts val="1850"/>
              </a:lnSpc>
              <a:buNone/>
            </a:pPr>
            <a:r>
              <a:rPr lang="en-US" sz="1150" dirty="0">
                <a:solidFill>
                  <a:srgbClr val="F2F2F3"/>
                </a:solidFill>
                <a:latin typeface="Roboto Light" pitchFamily="34" charset="0"/>
                <a:ea typeface="Roboto Light" pitchFamily="34" charset="-122"/>
                <a:cs typeface="Roboto Light" pitchFamily="34" charset="-120"/>
              </a:rPr>
              <a:t>ADAMAS UNIVERSITY</a:t>
            </a:r>
            <a:endParaRPr lang="en-US" sz="1150" dirty="0"/>
          </a:p>
        </p:txBody>
      </p:sp>
      <p:sp>
        <p:nvSpPr>
          <p:cNvPr id="23" name="Shape 18"/>
          <p:cNvSpPr/>
          <p:nvPr/>
        </p:nvSpPr>
        <p:spPr>
          <a:xfrm>
            <a:off x="2596991" y="7150656"/>
            <a:ext cx="2145983" cy="363617"/>
          </a:xfrm>
          <a:prstGeom prst="roundRect">
            <a:avLst>
              <a:gd name="adj" fmla="val 17423"/>
            </a:avLst>
          </a:prstGeom>
          <a:noFill/>
          <a:ln w="7620">
            <a:solidFill>
              <a:srgbClr val="F2F2F3"/>
            </a:solidFill>
            <a:prstDash val="solid"/>
          </a:ln>
        </p:spPr>
      </p:sp>
      <p:sp>
        <p:nvSpPr>
          <p:cNvPr id="24" name="Text 19"/>
          <p:cNvSpPr/>
          <p:nvPr/>
        </p:nvSpPr>
        <p:spPr>
          <a:xfrm>
            <a:off x="2717721" y="7214830"/>
            <a:ext cx="1904524" cy="235268"/>
          </a:xfrm>
          <a:prstGeom prst="rect">
            <a:avLst/>
          </a:prstGeom>
          <a:noFill/>
          <a:ln/>
        </p:spPr>
        <p:txBody>
          <a:bodyPr wrap="none" lIns="0" tIns="0" rIns="0" bIns="0" rtlCol="0" anchor="t"/>
          <a:lstStyle/>
          <a:p>
            <a:pPr algn="l" indent="0" marL="0">
              <a:lnSpc>
                <a:spcPts val="1850"/>
              </a:lnSpc>
              <a:buNone/>
            </a:pPr>
            <a:r>
              <a:rPr lang="en-US" sz="1150" dirty="0">
                <a:solidFill>
                  <a:srgbClr val="F2F2F3"/>
                </a:solidFill>
                <a:latin typeface="Roboto Light" pitchFamily="34" charset="0"/>
                <a:ea typeface="Roboto Light" pitchFamily="34" charset="-122"/>
                <a:cs typeface="Roboto Light" pitchFamily="34" charset="-120"/>
              </a:rPr>
              <a:t>UNSTRUCTURED DATABASE</a:t>
            </a:r>
            <a:endParaRPr lang="en-US" sz="1150" dirty="0"/>
          </a:p>
        </p:txBody>
      </p:sp>
      <p:sp>
        <p:nvSpPr>
          <p:cNvPr id="25" name="Shape 20"/>
          <p:cNvSpPr/>
          <p:nvPr/>
        </p:nvSpPr>
        <p:spPr>
          <a:xfrm>
            <a:off x="4837152" y="7150656"/>
            <a:ext cx="841415" cy="363617"/>
          </a:xfrm>
          <a:prstGeom prst="roundRect">
            <a:avLst>
              <a:gd name="adj" fmla="val 17423"/>
            </a:avLst>
          </a:prstGeom>
          <a:noFill/>
          <a:ln w="7620">
            <a:solidFill>
              <a:srgbClr val="F2F2F3"/>
            </a:solidFill>
            <a:prstDash val="solid"/>
          </a:ln>
        </p:spPr>
      </p:sp>
      <p:sp>
        <p:nvSpPr>
          <p:cNvPr id="26" name="Text 21"/>
          <p:cNvSpPr/>
          <p:nvPr/>
        </p:nvSpPr>
        <p:spPr>
          <a:xfrm>
            <a:off x="4957882" y="7214830"/>
            <a:ext cx="599956" cy="235268"/>
          </a:xfrm>
          <a:prstGeom prst="rect">
            <a:avLst/>
          </a:prstGeom>
          <a:noFill/>
          <a:ln/>
        </p:spPr>
        <p:txBody>
          <a:bodyPr wrap="none" lIns="0" tIns="0" rIns="0" bIns="0" rtlCol="0" anchor="t"/>
          <a:lstStyle/>
          <a:p>
            <a:pPr algn="l" indent="0" marL="0">
              <a:lnSpc>
                <a:spcPts val="1850"/>
              </a:lnSpc>
              <a:buNone/>
            </a:pPr>
            <a:r>
              <a:rPr lang="en-US" sz="1150" dirty="0">
                <a:solidFill>
                  <a:srgbClr val="F2F2F3"/>
                </a:solidFill>
                <a:latin typeface="Roboto Light" pitchFamily="34" charset="0"/>
                <a:ea typeface="Roboto Light" pitchFamily="34" charset="-122"/>
                <a:cs typeface="Roboto Light" pitchFamily="34" charset="-120"/>
              </a:rPr>
              <a:t>2025–26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2026-04-08T16:47:23Z</dcterms:created>
  <dcterms:modified xsi:type="dcterms:W3CDTF">2026-04-08T16:47:23Z</dcterms:modified>
</cp:coreProperties>
</file>